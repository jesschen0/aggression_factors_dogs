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70" r:id="rId3"/>
    <p:sldId id="271" r:id="rId4"/>
    <p:sldId id="257" r:id="rId5"/>
    <p:sldId id="261" r:id="rId6"/>
    <p:sldId id="262" r:id="rId7"/>
    <p:sldId id="258" r:id="rId8"/>
    <p:sldId id="263" r:id="rId9"/>
    <p:sldId id="265" r:id="rId10"/>
    <p:sldId id="266" r:id="rId11"/>
    <p:sldId id="273" r:id="rId12"/>
    <p:sldId id="267" r:id="rId13"/>
    <p:sldId id="268" r:id="rId14"/>
    <p:sldId id="260" r:id="rId15"/>
    <p:sldId id="269"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05"/>
    <p:restoredTop sz="63406"/>
  </p:normalViewPr>
  <p:slideViewPr>
    <p:cSldViewPr snapToGrid="0">
      <p:cViewPr varScale="1">
        <p:scale>
          <a:sx n="94" d="100"/>
          <a:sy n="94" d="100"/>
        </p:scale>
        <p:origin x="25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887248-DEC3-BD42-90FC-52EE7E43B6AF}" type="datetimeFigureOut">
              <a:rPr lang="en-US" smtClean="0"/>
              <a:t>12/3/25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22C6B-B164-9D49-ADA9-BD97CE05DB3A}" type="slidenum">
              <a:rPr lang="en-US" smtClean="0"/>
              <a:t>‹#›</a:t>
            </a:fld>
            <a:endParaRPr lang="en-US"/>
          </a:p>
        </p:txBody>
      </p:sp>
    </p:spTree>
    <p:extLst>
      <p:ext uri="{BB962C8B-B14F-4D97-AF65-F5344CB8AC3E}">
        <p14:creationId xmlns:p14="http://schemas.microsoft.com/office/powerpoint/2010/main" val="481433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Methodology: Dog guardians were recruited through research site databases and social media by "</a:t>
            </a:r>
            <a:r>
              <a:rPr lang="en-US" dirty="0" err="1"/>
              <a:t>ManyDogs</a:t>
            </a:r>
            <a:r>
              <a:rPr lang="en-US" dirty="0"/>
              <a:t>", an international research consortium of scientists interested in Canine </a:t>
            </a:r>
            <a:r>
              <a:rPr lang="en-US" dirty="0" err="1"/>
              <a:t>behaviour</a:t>
            </a:r>
            <a:r>
              <a:rPr lang="en-US" dirty="0"/>
              <a:t>.  The guardians would complete an online survey of basic demographics &amp; questions regarding dog temperament and behaviors.  There is a second part of the research on site where the dog completes a series of behavioral tasks involving food rewards gauging their interest and </a:t>
            </a:r>
            <a:r>
              <a:rPr lang="en-US" dirty="0" err="1"/>
              <a:t>behaviour</a:t>
            </a:r>
            <a:r>
              <a:rPr lang="en-US" dirty="0"/>
              <a:t> with and with-out ostensive communication.  This study was conducted over 13 months between January 2022 to January 2023.</a:t>
            </a:r>
          </a:p>
          <a:p>
            <a:endParaRPr lang="en-US" dirty="0"/>
          </a:p>
        </p:txBody>
      </p:sp>
      <p:sp>
        <p:nvSpPr>
          <p:cNvPr id="4" name="Slide Number Placeholder 3"/>
          <p:cNvSpPr>
            <a:spLocks noGrp="1"/>
          </p:cNvSpPr>
          <p:nvPr>
            <p:ph type="sldNum" sz="quarter" idx="5"/>
          </p:nvPr>
        </p:nvSpPr>
        <p:spPr/>
        <p:txBody>
          <a:bodyPr/>
          <a:lstStyle/>
          <a:p>
            <a:fld id="{C4922C6B-B164-9D49-ADA9-BD97CE05DB3A}" type="slidenum">
              <a:rPr lang="en-US" smtClean="0"/>
              <a:t>4</a:t>
            </a:fld>
            <a:endParaRPr lang="en-US"/>
          </a:p>
        </p:txBody>
      </p:sp>
    </p:spTree>
    <p:extLst>
      <p:ext uri="{BB962C8B-B14F-4D97-AF65-F5344CB8AC3E}">
        <p14:creationId xmlns:p14="http://schemas.microsoft.com/office/powerpoint/2010/main" val="317394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1C965-B6A6-DC8A-31BF-93D725810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E00AC-8FC6-B08E-0959-00E1DC64D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D6B85-6E1C-C87B-0C36-D686BBAE0E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164B48-2E74-91B2-71F9-6382B1A3E77E}"/>
              </a:ext>
            </a:extLst>
          </p:cNvPr>
          <p:cNvSpPr>
            <a:spLocks noGrp="1"/>
          </p:cNvSpPr>
          <p:nvPr>
            <p:ph type="sldNum" sz="quarter" idx="5"/>
          </p:nvPr>
        </p:nvSpPr>
        <p:spPr/>
        <p:txBody>
          <a:bodyPr/>
          <a:lstStyle/>
          <a:p>
            <a:fld id="{C4922C6B-B164-9D49-ADA9-BD97CE05DB3A}" type="slidenum">
              <a:rPr lang="en-US" smtClean="0"/>
              <a:t>5</a:t>
            </a:fld>
            <a:endParaRPr lang="en-US"/>
          </a:p>
        </p:txBody>
      </p:sp>
    </p:spTree>
    <p:extLst>
      <p:ext uri="{BB962C8B-B14F-4D97-AF65-F5344CB8AC3E}">
        <p14:creationId xmlns:p14="http://schemas.microsoft.com/office/powerpoint/2010/main" val="1046763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D0A0F-7D16-4A6A-E383-BC5FA1D96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68F0C-771D-5366-CC02-76996D9A20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61166-63F4-D1F9-73EF-2A717461A8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FB6F49-0575-E6C3-D897-731C8F7D780F}"/>
              </a:ext>
            </a:extLst>
          </p:cNvPr>
          <p:cNvSpPr>
            <a:spLocks noGrp="1"/>
          </p:cNvSpPr>
          <p:nvPr>
            <p:ph type="sldNum" sz="quarter" idx="5"/>
          </p:nvPr>
        </p:nvSpPr>
        <p:spPr/>
        <p:txBody>
          <a:bodyPr/>
          <a:lstStyle/>
          <a:p>
            <a:fld id="{C4922C6B-B164-9D49-ADA9-BD97CE05DB3A}" type="slidenum">
              <a:rPr lang="en-US" smtClean="0"/>
              <a:t>6</a:t>
            </a:fld>
            <a:endParaRPr lang="en-US"/>
          </a:p>
        </p:txBody>
      </p:sp>
    </p:spTree>
    <p:extLst>
      <p:ext uri="{BB962C8B-B14F-4D97-AF65-F5344CB8AC3E}">
        <p14:creationId xmlns:p14="http://schemas.microsoft.com/office/powerpoint/2010/main" val="1013863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Interestingly, shelter are often government run and have lot of dogs where rescues are more privately run and often animals are more cared for.</a:t>
            </a:r>
          </a:p>
        </p:txBody>
      </p:sp>
      <p:sp>
        <p:nvSpPr>
          <p:cNvPr id="4" name="Slide Number Placeholder 3"/>
          <p:cNvSpPr>
            <a:spLocks noGrp="1"/>
          </p:cNvSpPr>
          <p:nvPr>
            <p:ph type="sldNum" sz="quarter" idx="5"/>
          </p:nvPr>
        </p:nvSpPr>
        <p:spPr/>
        <p:txBody>
          <a:bodyPr/>
          <a:lstStyle/>
          <a:p>
            <a:fld id="{C4922C6B-B164-9D49-ADA9-BD97CE05DB3A}" type="slidenum">
              <a:rPr lang="en-US" smtClean="0"/>
              <a:t>8</a:t>
            </a:fld>
            <a:endParaRPr lang="en-US"/>
          </a:p>
        </p:txBody>
      </p:sp>
    </p:spTree>
    <p:extLst>
      <p:ext uri="{BB962C8B-B14F-4D97-AF65-F5344CB8AC3E}">
        <p14:creationId xmlns:p14="http://schemas.microsoft.com/office/powerpoint/2010/main" val="805994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1 – variability of residuals are constant and equally spread</a:t>
            </a:r>
          </a:p>
          <a:p>
            <a:r>
              <a:rPr lang="en-US" dirty="0"/>
              <a:t>Plot 2&amp;3- residuals are nearly normal around 0</a:t>
            </a:r>
          </a:p>
          <a:p>
            <a:endParaRPr lang="en-US" dirty="0"/>
          </a:p>
        </p:txBody>
      </p:sp>
      <p:sp>
        <p:nvSpPr>
          <p:cNvPr id="4" name="Slide Number Placeholder 3"/>
          <p:cNvSpPr>
            <a:spLocks noGrp="1"/>
          </p:cNvSpPr>
          <p:nvPr>
            <p:ph type="sldNum" sz="quarter" idx="5"/>
          </p:nvPr>
        </p:nvSpPr>
        <p:spPr/>
        <p:txBody>
          <a:bodyPr/>
          <a:lstStyle/>
          <a:p>
            <a:fld id="{C4922C6B-B164-9D49-ADA9-BD97CE05DB3A}" type="slidenum">
              <a:rPr lang="en-US" smtClean="0"/>
              <a:t>10</a:t>
            </a:fld>
            <a:endParaRPr lang="en-US"/>
          </a:p>
        </p:txBody>
      </p:sp>
    </p:spTree>
    <p:extLst>
      <p:ext uri="{BB962C8B-B14F-4D97-AF65-F5344CB8AC3E}">
        <p14:creationId xmlns:p14="http://schemas.microsoft.com/office/powerpoint/2010/main" val="1272266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Checking for linear relationship related to the outcome.  We see this for age, for other variables which are categorical, I checked that variability does not fluctuate across groups.</a:t>
            </a:r>
          </a:p>
          <a:p>
            <a:endParaRPr lang="en-US" dirty="0"/>
          </a:p>
        </p:txBody>
      </p:sp>
      <p:sp>
        <p:nvSpPr>
          <p:cNvPr id="4" name="Slide Number Placeholder 3"/>
          <p:cNvSpPr>
            <a:spLocks noGrp="1"/>
          </p:cNvSpPr>
          <p:nvPr>
            <p:ph type="sldNum" sz="quarter" idx="5"/>
          </p:nvPr>
        </p:nvSpPr>
        <p:spPr/>
        <p:txBody>
          <a:bodyPr/>
          <a:lstStyle/>
          <a:p>
            <a:fld id="{C4922C6B-B164-9D49-ADA9-BD97CE05DB3A}" type="slidenum">
              <a:rPr lang="en-US" smtClean="0"/>
              <a:t>11</a:t>
            </a:fld>
            <a:endParaRPr lang="en-US"/>
          </a:p>
        </p:txBody>
      </p:sp>
    </p:spTree>
    <p:extLst>
      <p:ext uri="{BB962C8B-B14F-4D97-AF65-F5344CB8AC3E}">
        <p14:creationId xmlns:p14="http://schemas.microsoft.com/office/powerpoint/2010/main" val="2368869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&lt;- </a:t>
            </a:r>
            <a:r>
              <a:rPr lang="en-US" dirty="0" err="1"/>
              <a:t>aov</a:t>
            </a:r>
            <a:r>
              <a:rPr lang="en-US" dirty="0"/>
              <a:t>(</a:t>
            </a:r>
            <a:r>
              <a:rPr lang="en-US" dirty="0" err="1"/>
              <a:t>adjusted_agg_score</a:t>
            </a:r>
            <a:r>
              <a:rPr lang="en-US" dirty="0"/>
              <a:t> ~ </a:t>
            </a:r>
            <a:r>
              <a:rPr lang="en-US" dirty="0" err="1"/>
              <a:t>num_household_dogs</a:t>
            </a:r>
            <a:r>
              <a:rPr lang="en-US" dirty="0"/>
              <a:t>, data = manydogs_2024_clean_v2)</a:t>
            </a:r>
          </a:p>
          <a:p>
            <a:r>
              <a:rPr lang="en-US" dirty="0"/>
              <a:t>summary(model)</a:t>
            </a:r>
          </a:p>
        </p:txBody>
      </p:sp>
      <p:sp>
        <p:nvSpPr>
          <p:cNvPr id="4" name="Slide Number Placeholder 3"/>
          <p:cNvSpPr>
            <a:spLocks noGrp="1"/>
          </p:cNvSpPr>
          <p:nvPr>
            <p:ph type="sldNum" sz="quarter" idx="5"/>
          </p:nvPr>
        </p:nvSpPr>
        <p:spPr/>
        <p:txBody>
          <a:bodyPr/>
          <a:lstStyle/>
          <a:p>
            <a:fld id="{C4922C6B-B164-9D49-ADA9-BD97CE05DB3A}" type="slidenum">
              <a:rPr lang="en-US" smtClean="0"/>
              <a:t>12</a:t>
            </a:fld>
            <a:endParaRPr lang="en-US"/>
          </a:p>
        </p:txBody>
      </p:sp>
    </p:spTree>
    <p:extLst>
      <p:ext uri="{BB962C8B-B14F-4D97-AF65-F5344CB8AC3E}">
        <p14:creationId xmlns:p14="http://schemas.microsoft.com/office/powerpoint/2010/main" val="195231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12/3/25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12/3/25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12/3/25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12/3/25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12/3/25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12/3/25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12/3/25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i.org/10.5334/jopd.109"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5334/jopd.109"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93D0-2D3C-7C4D-195C-27FAE259FB79}"/>
              </a:ext>
            </a:extLst>
          </p:cNvPr>
          <p:cNvSpPr>
            <a:spLocks noGrp="1"/>
          </p:cNvSpPr>
          <p:nvPr>
            <p:ph type="ctrTitle"/>
          </p:nvPr>
        </p:nvSpPr>
        <p:spPr/>
        <p:txBody>
          <a:bodyPr/>
          <a:lstStyle/>
          <a:p>
            <a:r>
              <a:rPr lang="en-US" dirty="0"/>
              <a:t>aggression factors in dogs</a:t>
            </a:r>
          </a:p>
        </p:txBody>
      </p:sp>
      <p:sp>
        <p:nvSpPr>
          <p:cNvPr id="3" name="Subtitle 2">
            <a:extLst>
              <a:ext uri="{FF2B5EF4-FFF2-40B4-BE49-F238E27FC236}">
                <a16:creationId xmlns:a16="http://schemas.microsoft.com/office/drawing/2014/main" id="{F6994223-F068-C34B-A78A-FA803423E413}"/>
              </a:ext>
            </a:extLst>
          </p:cNvPr>
          <p:cNvSpPr>
            <a:spLocks noGrp="1"/>
          </p:cNvSpPr>
          <p:nvPr>
            <p:ph type="subTitle" idx="1"/>
          </p:nvPr>
        </p:nvSpPr>
        <p:spPr>
          <a:xfrm>
            <a:off x="498866" y="5313635"/>
            <a:ext cx="10993546" cy="1047868"/>
          </a:xfrm>
        </p:spPr>
        <p:txBody>
          <a:bodyPr>
            <a:normAutofit lnSpcReduction="10000"/>
          </a:bodyPr>
          <a:lstStyle/>
          <a:p>
            <a:r>
              <a:rPr lang="en-US" dirty="0">
                <a:solidFill>
                  <a:schemeClr val="bg1"/>
                </a:solidFill>
              </a:rPr>
              <a:t>Data606 project</a:t>
            </a:r>
          </a:p>
          <a:p>
            <a:r>
              <a:rPr lang="en-US" dirty="0">
                <a:solidFill>
                  <a:schemeClr val="bg1"/>
                </a:solidFill>
              </a:rPr>
              <a:t>December 3, 2025</a:t>
            </a:r>
          </a:p>
          <a:p>
            <a:r>
              <a:rPr lang="en-US" dirty="0">
                <a:solidFill>
                  <a:schemeClr val="bg1"/>
                </a:solidFill>
              </a:rPr>
              <a:t>Jessica </a:t>
            </a:r>
            <a:r>
              <a:rPr lang="en-US" dirty="0" err="1">
                <a:solidFill>
                  <a:schemeClr val="bg1"/>
                </a:solidFill>
              </a:rPr>
              <a:t>chen</a:t>
            </a:r>
            <a:endParaRPr lang="en-US" dirty="0">
              <a:solidFill>
                <a:schemeClr val="bg1"/>
              </a:solidFill>
            </a:endParaRPr>
          </a:p>
        </p:txBody>
      </p:sp>
      <p:sp>
        <p:nvSpPr>
          <p:cNvPr id="4" name="Title 1">
            <a:extLst>
              <a:ext uri="{FF2B5EF4-FFF2-40B4-BE49-F238E27FC236}">
                <a16:creationId xmlns:a16="http://schemas.microsoft.com/office/drawing/2014/main" id="{FB61B250-3A9B-09DD-C8D2-0CAD7D3B02A0}"/>
              </a:ext>
            </a:extLst>
          </p:cNvPr>
          <p:cNvSpPr txBox="1">
            <a:spLocks/>
          </p:cNvSpPr>
          <p:nvPr/>
        </p:nvSpPr>
        <p:spPr>
          <a:xfrm>
            <a:off x="617260" y="1563124"/>
            <a:ext cx="10993549" cy="1475013"/>
          </a:xfrm>
          <a:prstGeom prst="rect">
            <a:avLst/>
          </a:prstGeom>
          <a:effectLst/>
        </p:spPr>
        <p:txBody>
          <a:bodyPr vert="horz" lIns="91440" tIns="45720" rIns="91440" bIns="45720" rtlCol="0" anchor="b">
            <a:norm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800" dirty="0"/>
              <a:t>Manydogs_2024 survey</a:t>
            </a:r>
          </a:p>
        </p:txBody>
      </p:sp>
    </p:spTree>
    <p:extLst>
      <p:ext uri="{BB962C8B-B14F-4D97-AF65-F5344CB8AC3E}">
        <p14:creationId xmlns:p14="http://schemas.microsoft.com/office/powerpoint/2010/main" val="553906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2B387-DC8F-9814-C58A-EE4C956985D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E64FEB51-2F49-F5AB-0F01-D4F31195BC01}"/>
              </a:ext>
            </a:extLst>
          </p:cNvPr>
          <p:cNvSpPr>
            <a:spLocks noGrp="1"/>
          </p:cNvSpPr>
          <p:nvPr>
            <p:ph idx="1"/>
          </p:nvPr>
        </p:nvSpPr>
        <p:spPr>
          <a:xfrm>
            <a:off x="581192" y="2096748"/>
            <a:ext cx="11127588" cy="3678303"/>
          </a:xfrm>
        </p:spPr>
        <p:txBody>
          <a:bodyPr>
            <a:normAutofit fontScale="92500" lnSpcReduction="10000"/>
          </a:bodyPr>
          <a:lstStyle/>
          <a:p>
            <a:pPr marL="0" indent="0">
              <a:buNone/>
            </a:pPr>
            <a:r>
              <a:rPr lang="en-US" sz="1600" dirty="0"/>
              <a:t>This project investigates the factors that contribute to aggression in dogs using data collected from an international survey of dog guardians called the Many Dogs Project</a:t>
            </a:r>
            <a:r>
              <a:rPr lang="en-US" sz="1600" baseline="30000" dirty="0"/>
              <a:t>1</a:t>
            </a:r>
            <a:r>
              <a:rPr lang="en-US" sz="1600" dirty="0"/>
              <a:t>.  The dependent variable, dog aggression, was derived from a subset of 27 aggression question responses, with summary ratings calculated to represent overall aggression score for each respondent.  The dataset includes multiple independent variables, mostly categorical, encompassing aspects of the dog’s home environment, demographic characteristics, and “origin” (e.g., shelter, breeder, etc.).</a:t>
            </a:r>
          </a:p>
          <a:p>
            <a:pPr marL="0" indent="0">
              <a:buNone/>
            </a:pPr>
            <a:r>
              <a:rPr lang="en-US" sz="1600" dirty="0"/>
              <a:t>A multiple regression analysis was conducted to examine the relationship between these predictors and aggression.   The final model explained a moderate proportion of dog aggression (adjusted R</a:t>
            </a:r>
            <a:r>
              <a:rPr lang="en-US" sz="1600" baseline="30000" dirty="0"/>
              <a:t>2</a:t>
            </a:r>
            <a:r>
              <a:rPr lang="en-US" sz="1600" dirty="0"/>
              <a:t> of ~0.2), leaving room for more explanatory variables to be captured in the future.  Among the most influential predictors were elements of (1) the dog’s home environment (e.g., dogs residing in private homes vs. group settings and the number of other dogs in the home) and (2) the dog’s background (e.g., origin &amp; breed). </a:t>
            </a:r>
          </a:p>
          <a:p>
            <a:pPr marL="0" indent="0">
              <a:buNone/>
            </a:pPr>
            <a:r>
              <a:rPr lang="en-US" sz="1600" dirty="0"/>
              <a:t>Regression assumptions, including linearity, homoscedasticity, normality of residuals, and absence of multicollinearity, were assessed and found to be adequately met.  The model has limitations in explanatory power and should the opportunity arise, it would be interesting to incorporate more quantitative variables.</a:t>
            </a:r>
          </a:p>
          <a:p>
            <a:pPr marL="0" indent="0">
              <a:buNone/>
            </a:pPr>
            <a:r>
              <a:rPr lang="en-US" sz="1600" dirty="0"/>
              <a:t>Overall, this project provides evidence that both environmental and origin-related factors are predictors of aggression in dogs.  Other interesting findings were that (</a:t>
            </a:r>
            <a:r>
              <a:rPr lang="en-US" sz="1600" dirty="0" err="1"/>
              <a:t>i</a:t>
            </a:r>
            <a:r>
              <a:rPr lang="en-US" sz="1600" dirty="0"/>
              <a:t>) sex and urban/rural settings did not have explanatory power and (ii) shelter dogs increased aggression in the model while rescue dogs decreased aggression score.   These insights can inform guardians, trainers, and policymakers in developing strategies to manage and prevent aggressive behavior.</a:t>
            </a:r>
          </a:p>
        </p:txBody>
      </p:sp>
      <p:sp>
        <p:nvSpPr>
          <p:cNvPr id="4" name="TextBox 3">
            <a:extLst>
              <a:ext uri="{FF2B5EF4-FFF2-40B4-BE49-F238E27FC236}">
                <a16:creationId xmlns:a16="http://schemas.microsoft.com/office/drawing/2014/main" id="{C08958BD-2BE3-253F-1817-0D0AA1D7202E}"/>
              </a:ext>
            </a:extLst>
          </p:cNvPr>
          <p:cNvSpPr txBox="1"/>
          <p:nvPr/>
        </p:nvSpPr>
        <p:spPr>
          <a:xfrm>
            <a:off x="581192" y="6155844"/>
            <a:ext cx="10724542" cy="461665"/>
          </a:xfrm>
          <a:prstGeom prst="rect">
            <a:avLst/>
          </a:prstGeom>
          <a:noFill/>
        </p:spPr>
        <p:txBody>
          <a:bodyPr wrap="square" rtlCol="0">
            <a:spAutoFit/>
          </a:bodyPr>
          <a:lstStyle/>
          <a:p>
            <a:r>
              <a:rPr lang="en-US" sz="1200" dirty="0"/>
              <a:t>1. </a:t>
            </a:r>
            <a:r>
              <a:rPr lang="en-US" sz="1200" dirty="0" err="1"/>
              <a:t>ManyDogs</a:t>
            </a:r>
            <a:r>
              <a:rPr lang="en-US" sz="1200" dirty="0"/>
              <a:t> Project, Espinosa, J., Hare, E., </a:t>
            </a:r>
            <a:r>
              <a:rPr lang="en-US" sz="1200" dirty="0" err="1"/>
              <a:t>Alberghina</a:t>
            </a:r>
            <a:r>
              <a:rPr lang="en-US" sz="1200" dirty="0"/>
              <a:t>, D., Perez Valverde, B, &amp; Stevens, J.R. (2024). Data for </a:t>
            </a:r>
            <a:r>
              <a:rPr lang="en-US" sz="1200" dirty="0" err="1"/>
              <a:t>ManyDogs</a:t>
            </a:r>
            <a:r>
              <a:rPr lang="en-US" sz="1200" dirty="0"/>
              <a:t> 1. </a:t>
            </a:r>
            <a:r>
              <a:rPr lang="en-US" sz="1200" i="1" dirty="0"/>
              <a:t>Journal of Open Psychology Data</a:t>
            </a:r>
            <a:r>
              <a:rPr lang="en-US" sz="1200" dirty="0"/>
              <a:t>. </a:t>
            </a:r>
            <a:r>
              <a:rPr lang="en-US" sz="1200" u="sng" dirty="0">
                <a:hlinkClick r:id="rId2"/>
              </a:rPr>
              <a:t>doi:10.5334/jopd.109</a:t>
            </a:r>
            <a:endParaRPr lang="en-US" sz="1200" dirty="0"/>
          </a:p>
        </p:txBody>
      </p:sp>
    </p:spTree>
    <p:extLst>
      <p:ext uri="{BB962C8B-B14F-4D97-AF65-F5344CB8AC3E}">
        <p14:creationId xmlns:p14="http://schemas.microsoft.com/office/powerpoint/2010/main" val="2651200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9FC936C0-4624-438D-BDD0-6B296BD6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08D4B6A-8113-4DFB-B82E-B60CAC8E0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4" name="Rectangle 23">
            <a:extLst>
              <a:ext uri="{FF2B5EF4-FFF2-40B4-BE49-F238E27FC236}">
                <a16:creationId xmlns:a16="http://schemas.microsoft.com/office/drawing/2014/main" id="{9822E561-F97C-4CBB-A9A6-A6BF6317B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713D7D5-46D6-CB5F-9759-694DDC5B8252}"/>
              </a:ext>
            </a:extLst>
          </p:cNvPr>
          <p:cNvSpPr>
            <a:spLocks noGrp="1"/>
          </p:cNvSpPr>
          <p:nvPr>
            <p:ph type="title"/>
          </p:nvPr>
        </p:nvSpPr>
        <p:spPr>
          <a:xfrm>
            <a:off x="638620" y="863695"/>
            <a:ext cx="3511233" cy="3779995"/>
          </a:xfrm>
        </p:spPr>
        <p:txBody>
          <a:bodyPr vert="horz" lIns="91440" tIns="45720" rIns="91440" bIns="45720" rtlCol="0" anchor="ctr">
            <a:normAutofit/>
          </a:bodyPr>
          <a:lstStyle/>
          <a:p>
            <a:pPr algn="ctr"/>
            <a:r>
              <a:rPr lang="en-US" sz="3600">
                <a:solidFill>
                  <a:srgbClr val="FFFFFF"/>
                </a:solidFill>
              </a:rPr>
              <a:t>This is NOLA</a:t>
            </a:r>
          </a:p>
        </p:txBody>
      </p:sp>
      <p:sp>
        <p:nvSpPr>
          <p:cNvPr id="26" name="Rectangle 25">
            <a:extLst>
              <a:ext uri="{FF2B5EF4-FFF2-40B4-BE49-F238E27FC236}">
                <a16:creationId xmlns:a16="http://schemas.microsoft.com/office/drawing/2014/main" id="{B01B0E58-A5C8-4CDA-A2E0-35DF94E59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Content Placeholder 8" descr="A dog sitting on a sidewalk&#10;&#10;AI-generated content may be incorrect.">
            <a:extLst>
              <a:ext uri="{FF2B5EF4-FFF2-40B4-BE49-F238E27FC236}">
                <a16:creationId xmlns:a16="http://schemas.microsoft.com/office/drawing/2014/main" id="{BA0DD201-517B-C34D-BE0F-0D79BF92FFAA}"/>
              </a:ext>
            </a:extLst>
          </p:cNvPr>
          <p:cNvPicPr>
            <a:picLocks noGrp="1" noChangeAspect="1"/>
          </p:cNvPicPr>
          <p:nvPr>
            <p:ph idx="1"/>
          </p:nvPr>
        </p:nvPicPr>
        <p:blipFill>
          <a:blip r:embed="rId2"/>
          <a:srcRect l="8002" t="6890" r="1916" b="2"/>
          <a:stretch>
            <a:fillRect/>
          </a:stretch>
        </p:blipFill>
        <p:spPr>
          <a:xfrm>
            <a:off x="4654295" y="807939"/>
            <a:ext cx="7086151" cy="5493155"/>
          </a:xfrm>
          <a:prstGeom prst="rect">
            <a:avLst/>
          </a:prstGeom>
        </p:spPr>
      </p:pic>
    </p:spTree>
    <p:extLst>
      <p:ext uri="{BB962C8B-B14F-4D97-AF65-F5344CB8AC3E}">
        <p14:creationId xmlns:p14="http://schemas.microsoft.com/office/powerpoint/2010/main" val="1917092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8D7F3-55FE-06B7-7079-D73A78A02243}"/>
              </a:ext>
            </a:extLst>
          </p:cNvPr>
          <p:cNvSpPr>
            <a:spLocks noGrp="1"/>
          </p:cNvSpPr>
          <p:nvPr>
            <p:ph type="title"/>
          </p:nvPr>
        </p:nvSpPr>
        <p:spPr/>
        <p:txBody>
          <a:bodyPr/>
          <a:lstStyle/>
          <a:p>
            <a:r>
              <a:rPr lang="en-US" dirty="0"/>
              <a:t>Overview – Background data</a:t>
            </a:r>
          </a:p>
        </p:txBody>
      </p:sp>
      <p:sp>
        <p:nvSpPr>
          <p:cNvPr id="3" name="Content Placeholder 2">
            <a:extLst>
              <a:ext uri="{FF2B5EF4-FFF2-40B4-BE49-F238E27FC236}">
                <a16:creationId xmlns:a16="http://schemas.microsoft.com/office/drawing/2014/main" id="{1E90D436-DDB4-9822-C121-8238A75DAFEB}"/>
              </a:ext>
            </a:extLst>
          </p:cNvPr>
          <p:cNvSpPr>
            <a:spLocks noGrp="1"/>
          </p:cNvSpPr>
          <p:nvPr>
            <p:ph idx="1"/>
          </p:nvPr>
        </p:nvSpPr>
        <p:spPr>
          <a:xfrm>
            <a:off x="581192" y="2096748"/>
            <a:ext cx="11029615" cy="3678303"/>
          </a:xfrm>
        </p:spPr>
        <p:txBody>
          <a:bodyPr>
            <a:normAutofit/>
          </a:bodyPr>
          <a:lstStyle/>
          <a:p>
            <a:r>
              <a:rPr lang="en-US" dirty="0"/>
              <a:t>The data for this project is collected from the </a:t>
            </a:r>
            <a:r>
              <a:rPr lang="en-US" b="1" dirty="0"/>
              <a:t>Many Dogs Project</a:t>
            </a:r>
            <a:r>
              <a:rPr lang="en-US" b="1" baseline="30000" dirty="0"/>
              <a:t>1.</a:t>
            </a:r>
          </a:p>
          <a:p>
            <a:r>
              <a:rPr lang="en-US" dirty="0"/>
              <a:t>Methodology: </a:t>
            </a:r>
          </a:p>
          <a:p>
            <a:pPr lvl="1"/>
            <a:r>
              <a:rPr lang="en-US" dirty="0"/>
              <a:t>Dog guardians recruited through research site databases and social media.</a:t>
            </a:r>
          </a:p>
          <a:p>
            <a:pPr lvl="1"/>
            <a:r>
              <a:rPr lang="en-US" dirty="0"/>
              <a:t>The guardians would complete an online survey of basic demographics &amp; questions regarding dog temperament and behaviors.  There is a second part of the research on site where the dog completes a series of behavioral tasks involving food rewards gauging their interest and behavior with and with-out ostensive communication.  </a:t>
            </a:r>
          </a:p>
          <a:p>
            <a:pPr lvl="1"/>
            <a:r>
              <a:rPr lang="en-US" dirty="0"/>
              <a:t>This study was conducted over 13 months between </a:t>
            </a:r>
            <a:r>
              <a:rPr lang="en-US" b="1" dirty="0"/>
              <a:t>January 2022 to January 2023</a:t>
            </a:r>
            <a:r>
              <a:rPr lang="en-US" dirty="0"/>
              <a:t>.</a:t>
            </a:r>
          </a:p>
          <a:p>
            <a:r>
              <a:rPr lang="en-US" dirty="0"/>
              <a:t>There are 704 cases (studies) collected from 20 research sites across eight countries.  After filtering for incomplete surveys/NAs, we are left with </a:t>
            </a:r>
            <a:r>
              <a:rPr lang="en-US" b="1" dirty="0"/>
              <a:t>155</a:t>
            </a:r>
            <a:r>
              <a:rPr lang="en-US" dirty="0"/>
              <a:t> observations which will be used.</a:t>
            </a:r>
          </a:p>
          <a:p>
            <a:r>
              <a:rPr lang="en-US" dirty="0"/>
              <a:t>Research is widely used – e.g., main study looked at how ostensive communication can influence dog behavior.</a:t>
            </a:r>
          </a:p>
        </p:txBody>
      </p:sp>
      <p:sp>
        <p:nvSpPr>
          <p:cNvPr id="7" name="TextBox 6">
            <a:extLst>
              <a:ext uri="{FF2B5EF4-FFF2-40B4-BE49-F238E27FC236}">
                <a16:creationId xmlns:a16="http://schemas.microsoft.com/office/drawing/2014/main" id="{3B6C0184-E8D2-4575-772E-2867FBFAED2B}"/>
              </a:ext>
            </a:extLst>
          </p:cNvPr>
          <p:cNvSpPr txBox="1"/>
          <p:nvPr/>
        </p:nvSpPr>
        <p:spPr>
          <a:xfrm>
            <a:off x="450166" y="6155844"/>
            <a:ext cx="10724542" cy="461665"/>
          </a:xfrm>
          <a:prstGeom prst="rect">
            <a:avLst/>
          </a:prstGeom>
          <a:noFill/>
        </p:spPr>
        <p:txBody>
          <a:bodyPr wrap="square" rtlCol="0">
            <a:spAutoFit/>
          </a:bodyPr>
          <a:lstStyle/>
          <a:p>
            <a:r>
              <a:rPr lang="en-US" sz="1200" dirty="0"/>
              <a:t>1. </a:t>
            </a:r>
            <a:r>
              <a:rPr lang="en-US" sz="1200" dirty="0" err="1"/>
              <a:t>ManyDogs</a:t>
            </a:r>
            <a:r>
              <a:rPr lang="en-US" sz="1200" dirty="0"/>
              <a:t> Project, Espinosa, J., Hare, E., </a:t>
            </a:r>
            <a:r>
              <a:rPr lang="en-US" sz="1200" dirty="0" err="1"/>
              <a:t>Alberghina</a:t>
            </a:r>
            <a:r>
              <a:rPr lang="en-US" sz="1200" dirty="0"/>
              <a:t>, D., Perez Valverde, B, &amp; Stevens, J.R. (2024). Data for </a:t>
            </a:r>
            <a:r>
              <a:rPr lang="en-US" sz="1200" dirty="0" err="1"/>
              <a:t>ManyDogs</a:t>
            </a:r>
            <a:r>
              <a:rPr lang="en-US" sz="1200" dirty="0"/>
              <a:t> 1. </a:t>
            </a:r>
            <a:r>
              <a:rPr lang="en-US" sz="1200" i="1" dirty="0"/>
              <a:t>Journal of Open Psychology Data</a:t>
            </a:r>
            <a:r>
              <a:rPr lang="en-US" sz="1200" dirty="0"/>
              <a:t>. </a:t>
            </a:r>
            <a:r>
              <a:rPr lang="en-US" sz="1200" u="sng" dirty="0">
                <a:hlinkClick r:id="rId3"/>
              </a:rPr>
              <a:t>doi:10.5334/jopd.109</a:t>
            </a:r>
            <a:endParaRPr lang="en-US" sz="1200" dirty="0"/>
          </a:p>
        </p:txBody>
      </p:sp>
    </p:spTree>
    <p:extLst>
      <p:ext uri="{BB962C8B-B14F-4D97-AF65-F5344CB8AC3E}">
        <p14:creationId xmlns:p14="http://schemas.microsoft.com/office/powerpoint/2010/main" val="1609044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DEEF1-A6BB-0B18-DF6E-A45761F43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B9C32-442C-468C-8177-5033434A5313}"/>
              </a:ext>
            </a:extLst>
          </p:cNvPr>
          <p:cNvSpPr>
            <a:spLocks noGrp="1"/>
          </p:cNvSpPr>
          <p:nvPr>
            <p:ph type="title"/>
          </p:nvPr>
        </p:nvSpPr>
        <p:spPr/>
        <p:txBody>
          <a:bodyPr/>
          <a:lstStyle/>
          <a:p>
            <a:r>
              <a:rPr lang="en-US" dirty="0"/>
              <a:t>Overview –  dependent variable </a:t>
            </a:r>
          </a:p>
        </p:txBody>
      </p:sp>
      <p:sp>
        <p:nvSpPr>
          <p:cNvPr id="3" name="Content Placeholder 2">
            <a:extLst>
              <a:ext uri="{FF2B5EF4-FFF2-40B4-BE49-F238E27FC236}">
                <a16:creationId xmlns:a16="http://schemas.microsoft.com/office/drawing/2014/main" id="{A78B11B2-BA9A-1F2C-F439-7EF256EA9FCC}"/>
              </a:ext>
            </a:extLst>
          </p:cNvPr>
          <p:cNvSpPr>
            <a:spLocks noGrp="1"/>
          </p:cNvSpPr>
          <p:nvPr>
            <p:ph idx="1"/>
          </p:nvPr>
        </p:nvSpPr>
        <p:spPr>
          <a:xfrm>
            <a:off x="581192" y="2180496"/>
            <a:ext cx="11029615" cy="3678303"/>
          </a:xfrm>
        </p:spPr>
        <p:txBody>
          <a:bodyPr>
            <a:normAutofit fontScale="92500" lnSpcReduction="20000"/>
          </a:bodyPr>
          <a:lstStyle/>
          <a:p>
            <a:r>
              <a:rPr lang="en-US" dirty="0"/>
              <a:t>Dependent Variable:  </a:t>
            </a:r>
            <a:r>
              <a:rPr lang="en-US" b="1" dirty="0"/>
              <a:t>Aggression</a:t>
            </a:r>
          </a:p>
          <a:p>
            <a:pPr lvl="1"/>
            <a:r>
              <a:rPr lang="en-US" dirty="0"/>
              <a:t>27 individual aggression rating questions like “When approached directly by an unfamiliar adult while being walked/exercised on a leash”</a:t>
            </a:r>
          </a:p>
          <a:p>
            <a:pPr lvl="1"/>
            <a:r>
              <a:rPr lang="en-US" dirty="0"/>
              <a:t>MC possible responses:</a:t>
            </a:r>
          </a:p>
          <a:p>
            <a:pPr lvl="2" indent="0">
              <a:spcAft>
                <a:spcPts val="0"/>
              </a:spcAft>
            </a:pPr>
            <a:r>
              <a:rPr lang="en-US" dirty="0"/>
              <a:t>  No aggression</a:t>
            </a:r>
          </a:p>
          <a:p>
            <a:pPr lvl="2" indent="0">
              <a:spcAft>
                <a:spcPts val="0"/>
              </a:spcAft>
            </a:pPr>
            <a:r>
              <a:rPr lang="en-US" dirty="0"/>
              <a:t>  Not observed</a:t>
            </a:r>
          </a:p>
          <a:p>
            <a:pPr lvl="2" indent="0">
              <a:spcAft>
                <a:spcPts val="0"/>
              </a:spcAft>
            </a:pPr>
            <a:r>
              <a:rPr lang="en-US" dirty="0"/>
              <a:t>  Mild aggression </a:t>
            </a:r>
          </a:p>
          <a:p>
            <a:pPr lvl="2" indent="0">
              <a:spcAft>
                <a:spcPts val="0"/>
              </a:spcAft>
            </a:pPr>
            <a:r>
              <a:rPr lang="en-US" dirty="0"/>
              <a:t>  Moderate aggression</a:t>
            </a:r>
          </a:p>
          <a:p>
            <a:pPr lvl="2" indent="0">
              <a:spcAft>
                <a:spcPts val="0"/>
              </a:spcAft>
            </a:pPr>
            <a:r>
              <a:rPr lang="en-US" dirty="0"/>
              <a:t>  Serious aggression</a:t>
            </a:r>
          </a:p>
          <a:p>
            <a:pPr lvl="2" indent="0">
              <a:spcAft>
                <a:spcPts val="0"/>
              </a:spcAft>
            </a:pPr>
            <a:r>
              <a:rPr lang="en-US" dirty="0"/>
              <a:t>  High aggression</a:t>
            </a:r>
          </a:p>
          <a:p>
            <a:pPr lvl="1"/>
            <a:endParaRPr lang="en-US" dirty="0"/>
          </a:p>
          <a:p>
            <a:pPr lvl="1"/>
            <a:r>
              <a:rPr lang="en-US" dirty="0"/>
              <a:t>The aggression score was computed two ways:</a:t>
            </a:r>
          </a:p>
          <a:p>
            <a:pPr marL="972900" lvl="2" indent="-342900">
              <a:buFont typeface="+mj-lt"/>
              <a:buAutoNum type="arabicPeriod"/>
            </a:pPr>
            <a:r>
              <a:rPr lang="en-US" dirty="0"/>
              <a:t>Any scores moderate and above were counted as 1 and total was tallied (</a:t>
            </a:r>
            <a:r>
              <a:rPr lang="en-US" dirty="0" err="1"/>
              <a:t>ie</a:t>
            </a:r>
            <a:r>
              <a:rPr lang="en-US" dirty="0"/>
              <a:t>. Max score of 27)</a:t>
            </a:r>
          </a:p>
          <a:p>
            <a:pPr marL="972900" lvl="2" indent="-342900">
              <a:buFont typeface="+mj-lt"/>
              <a:buAutoNum type="arabicPeriod"/>
            </a:pPr>
            <a:r>
              <a:rPr lang="en-US" dirty="0"/>
              <a:t>Scores were ranked 0-3 with 3 being severe and total was tallied (</a:t>
            </a:r>
            <a:r>
              <a:rPr lang="en-US" dirty="0" err="1"/>
              <a:t>ie</a:t>
            </a:r>
            <a:r>
              <a:rPr lang="en-US" dirty="0"/>
              <a:t>. Max score of 3*27 = 81)  **Adjusted**</a:t>
            </a:r>
          </a:p>
        </p:txBody>
      </p:sp>
      <p:pic>
        <p:nvPicPr>
          <p:cNvPr id="8" name="Picture 7" descr="A screenshot of a computer&#10;&#10;AI-generated content may be incorrect.">
            <a:extLst>
              <a:ext uri="{FF2B5EF4-FFF2-40B4-BE49-F238E27FC236}">
                <a16:creationId xmlns:a16="http://schemas.microsoft.com/office/drawing/2014/main" id="{3AFF32E5-564F-CB21-321D-52CC9EA7DDBB}"/>
              </a:ext>
            </a:extLst>
          </p:cNvPr>
          <p:cNvPicPr>
            <a:picLocks noChangeAspect="1"/>
          </p:cNvPicPr>
          <p:nvPr/>
        </p:nvPicPr>
        <p:blipFill>
          <a:blip r:embed="rId3"/>
          <a:stretch>
            <a:fillRect/>
          </a:stretch>
        </p:blipFill>
        <p:spPr>
          <a:xfrm>
            <a:off x="4507072" y="3196323"/>
            <a:ext cx="6043405" cy="1479155"/>
          </a:xfrm>
          <a:prstGeom prst="rect">
            <a:avLst/>
          </a:prstGeom>
        </p:spPr>
      </p:pic>
    </p:spTree>
    <p:extLst>
      <p:ext uri="{BB962C8B-B14F-4D97-AF65-F5344CB8AC3E}">
        <p14:creationId xmlns:p14="http://schemas.microsoft.com/office/powerpoint/2010/main" val="1109336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D3C9A-D2B0-B7C7-3C54-1A93F0052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FB21D-1EFB-C46E-EAE9-E1DB0AD2F3E0}"/>
              </a:ext>
            </a:extLst>
          </p:cNvPr>
          <p:cNvSpPr>
            <a:spLocks noGrp="1"/>
          </p:cNvSpPr>
          <p:nvPr>
            <p:ph type="title"/>
          </p:nvPr>
        </p:nvSpPr>
        <p:spPr/>
        <p:txBody>
          <a:bodyPr/>
          <a:lstStyle/>
          <a:p>
            <a:r>
              <a:rPr lang="en-US" dirty="0"/>
              <a:t>Overview – Independent  variables </a:t>
            </a:r>
          </a:p>
        </p:txBody>
      </p:sp>
      <p:sp>
        <p:nvSpPr>
          <p:cNvPr id="6" name="Rectangle 5">
            <a:extLst>
              <a:ext uri="{FF2B5EF4-FFF2-40B4-BE49-F238E27FC236}">
                <a16:creationId xmlns:a16="http://schemas.microsoft.com/office/drawing/2014/main" id="{527690F2-3D76-C345-5AD9-C3BA35BD0970}"/>
              </a:ext>
            </a:extLst>
          </p:cNvPr>
          <p:cNvSpPr/>
          <p:nvPr/>
        </p:nvSpPr>
        <p:spPr>
          <a:xfrm>
            <a:off x="581192" y="2321166"/>
            <a:ext cx="2021331" cy="1448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Environment</a:t>
            </a:r>
          </a:p>
        </p:txBody>
      </p:sp>
      <p:sp>
        <p:nvSpPr>
          <p:cNvPr id="9" name="Rectangle 8">
            <a:extLst>
              <a:ext uri="{FF2B5EF4-FFF2-40B4-BE49-F238E27FC236}">
                <a16:creationId xmlns:a16="http://schemas.microsoft.com/office/drawing/2014/main" id="{32A99F34-B2F0-26B3-650E-567069F94DCC}"/>
              </a:ext>
            </a:extLst>
          </p:cNvPr>
          <p:cNvSpPr/>
          <p:nvPr/>
        </p:nvSpPr>
        <p:spPr>
          <a:xfrm>
            <a:off x="2833263" y="2321166"/>
            <a:ext cx="2021331" cy="144897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solidFill>
                  <a:schemeClr val="bg1"/>
                </a:solidFill>
              </a:rPr>
              <a:t>Owned Status (private vs. group housing)</a:t>
            </a:r>
          </a:p>
        </p:txBody>
      </p:sp>
      <p:sp>
        <p:nvSpPr>
          <p:cNvPr id="10" name="Rectangle 9">
            <a:extLst>
              <a:ext uri="{FF2B5EF4-FFF2-40B4-BE49-F238E27FC236}">
                <a16:creationId xmlns:a16="http://schemas.microsoft.com/office/drawing/2014/main" id="{1C0FEF05-BA62-83B1-2EFC-D04D432BD6DE}"/>
              </a:ext>
            </a:extLst>
          </p:cNvPr>
          <p:cNvSpPr/>
          <p:nvPr/>
        </p:nvSpPr>
        <p:spPr>
          <a:xfrm>
            <a:off x="5085334" y="2321166"/>
            <a:ext cx="2021331" cy="144897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solidFill>
                  <a:schemeClr val="bg1"/>
                </a:solidFill>
              </a:rPr>
              <a:t>Sex</a:t>
            </a:r>
          </a:p>
        </p:txBody>
      </p:sp>
      <p:sp>
        <p:nvSpPr>
          <p:cNvPr id="11" name="Rectangle 10">
            <a:extLst>
              <a:ext uri="{FF2B5EF4-FFF2-40B4-BE49-F238E27FC236}">
                <a16:creationId xmlns:a16="http://schemas.microsoft.com/office/drawing/2014/main" id="{6FA77927-4458-080D-728A-46513F52FBA7}"/>
              </a:ext>
            </a:extLst>
          </p:cNvPr>
          <p:cNvSpPr/>
          <p:nvPr/>
        </p:nvSpPr>
        <p:spPr>
          <a:xfrm>
            <a:off x="7337405" y="2321166"/>
            <a:ext cx="2021331" cy="144897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bg1"/>
                </a:solidFill>
              </a:rPr>
              <a:t>Age</a:t>
            </a:r>
          </a:p>
        </p:txBody>
      </p:sp>
      <p:sp>
        <p:nvSpPr>
          <p:cNvPr id="12" name="Rectangle 11">
            <a:extLst>
              <a:ext uri="{FF2B5EF4-FFF2-40B4-BE49-F238E27FC236}">
                <a16:creationId xmlns:a16="http://schemas.microsoft.com/office/drawing/2014/main" id="{321AAD68-0CC9-F2AC-8CF3-08B9103D395C}"/>
              </a:ext>
            </a:extLst>
          </p:cNvPr>
          <p:cNvSpPr/>
          <p:nvPr/>
        </p:nvSpPr>
        <p:spPr>
          <a:xfrm>
            <a:off x="9589477" y="2321166"/>
            <a:ext cx="2021331" cy="14489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Desexed</a:t>
            </a:r>
          </a:p>
        </p:txBody>
      </p:sp>
      <p:sp>
        <p:nvSpPr>
          <p:cNvPr id="13" name="Rectangle 12">
            <a:extLst>
              <a:ext uri="{FF2B5EF4-FFF2-40B4-BE49-F238E27FC236}">
                <a16:creationId xmlns:a16="http://schemas.microsoft.com/office/drawing/2014/main" id="{B0B76E7C-762C-6240-0652-D5B1DF963804}"/>
              </a:ext>
            </a:extLst>
          </p:cNvPr>
          <p:cNvSpPr/>
          <p:nvPr/>
        </p:nvSpPr>
        <p:spPr>
          <a:xfrm>
            <a:off x="1591857" y="4089937"/>
            <a:ext cx="2021331" cy="1448973"/>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a:solidFill>
                  <a:schemeClr val="bg1"/>
                </a:solidFill>
              </a:rPr>
              <a:t>Pure Bred</a:t>
            </a:r>
          </a:p>
        </p:txBody>
      </p:sp>
      <p:sp>
        <p:nvSpPr>
          <p:cNvPr id="14" name="Rectangle 13">
            <a:extLst>
              <a:ext uri="{FF2B5EF4-FFF2-40B4-BE49-F238E27FC236}">
                <a16:creationId xmlns:a16="http://schemas.microsoft.com/office/drawing/2014/main" id="{F7C06AFF-3A93-2665-5F09-ADF886CFD546}"/>
              </a:ext>
            </a:extLst>
          </p:cNvPr>
          <p:cNvSpPr/>
          <p:nvPr/>
        </p:nvSpPr>
        <p:spPr>
          <a:xfrm>
            <a:off x="3945023" y="4089937"/>
            <a:ext cx="2021331" cy="1448973"/>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solidFill>
                  <a:schemeClr val="bg1"/>
                </a:solidFill>
              </a:rPr>
              <a:t>Number of Household Dogs (1, 2… 6+)</a:t>
            </a:r>
          </a:p>
        </p:txBody>
      </p:sp>
      <p:sp>
        <p:nvSpPr>
          <p:cNvPr id="15" name="Rectangle 14">
            <a:extLst>
              <a:ext uri="{FF2B5EF4-FFF2-40B4-BE49-F238E27FC236}">
                <a16:creationId xmlns:a16="http://schemas.microsoft.com/office/drawing/2014/main" id="{D1F8F492-1549-2110-703B-FBDB1A2079B8}"/>
              </a:ext>
            </a:extLst>
          </p:cNvPr>
          <p:cNvSpPr/>
          <p:nvPr/>
        </p:nvSpPr>
        <p:spPr>
          <a:xfrm>
            <a:off x="6298189" y="4089937"/>
            <a:ext cx="2021331" cy="144897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solidFill>
                  <a:schemeClr val="bg1"/>
                </a:solidFill>
              </a:rPr>
              <a:t>Origin (breeder, rescue, etc.) </a:t>
            </a:r>
          </a:p>
        </p:txBody>
      </p:sp>
      <p:sp>
        <p:nvSpPr>
          <p:cNvPr id="16" name="Rectangle 15">
            <a:extLst>
              <a:ext uri="{FF2B5EF4-FFF2-40B4-BE49-F238E27FC236}">
                <a16:creationId xmlns:a16="http://schemas.microsoft.com/office/drawing/2014/main" id="{779CEE7C-B066-914E-38BA-5288176503FE}"/>
              </a:ext>
            </a:extLst>
          </p:cNvPr>
          <p:cNvSpPr/>
          <p:nvPr/>
        </p:nvSpPr>
        <p:spPr>
          <a:xfrm>
            <a:off x="8651354" y="4089937"/>
            <a:ext cx="2021331" cy="1448973"/>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solidFill>
                  <a:schemeClr val="bg1"/>
                </a:solidFill>
              </a:rPr>
              <a:t>Guardian Gender</a:t>
            </a:r>
          </a:p>
        </p:txBody>
      </p:sp>
      <p:sp>
        <p:nvSpPr>
          <p:cNvPr id="17" name="TextBox 16">
            <a:extLst>
              <a:ext uri="{FF2B5EF4-FFF2-40B4-BE49-F238E27FC236}">
                <a16:creationId xmlns:a16="http://schemas.microsoft.com/office/drawing/2014/main" id="{CE0AF315-EA27-4B98-F48F-865A67A5E2BB}"/>
              </a:ext>
            </a:extLst>
          </p:cNvPr>
          <p:cNvSpPr txBox="1"/>
          <p:nvPr/>
        </p:nvSpPr>
        <p:spPr>
          <a:xfrm>
            <a:off x="773723" y="5978769"/>
            <a:ext cx="1003026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t>Research Question: Which variables can predict dog aggression?</a:t>
            </a:r>
          </a:p>
        </p:txBody>
      </p:sp>
    </p:spTree>
    <p:extLst>
      <p:ext uri="{BB962C8B-B14F-4D97-AF65-F5344CB8AC3E}">
        <p14:creationId xmlns:p14="http://schemas.microsoft.com/office/powerpoint/2010/main" val="3453343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251D8-D413-F939-8ACD-F66742E8B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4F538-9ACE-497F-25FA-4EBBCEC84C67}"/>
              </a:ext>
            </a:extLst>
          </p:cNvPr>
          <p:cNvSpPr>
            <a:spLocks noGrp="1"/>
          </p:cNvSpPr>
          <p:nvPr>
            <p:ph type="title"/>
          </p:nvPr>
        </p:nvSpPr>
        <p:spPr/>
        <p:txBody>
          <a:bodyPr/>
          <a:lstStyle/>
          <a:p>
            <a:r>
              <a:rPr lang="en-US" dirty="0"/>
              <a:t>Summary statistics – dependent variable</a:t>
            </a:r>
          </a:p>
        </p:txBody>
      </p:sp>
      <p:sp>
        <p:nvSpPr>
          <p:cNvPr id="8" name="Rectangle 7">
            <a:extLst>
              <a:ext uri="{FF2B5EF4-FFF2-40B4-BE49-F238E27FC236}">
                <a16:creationId xmlns:a16="http://schemas.microsoft.com/office/drawing/2014/main" id="{D21B4113-97AD-D058-F41B-9C16FE58D0EE}"/>
              </a:ext>
            </a:extLst>
          </p:cNvPr>
          <p:cNvSpPr/>
          <p:nvPr/>
        </p:nvSpPr>
        <p:spPr>
          <a:xfrm>
            <a:off x="8038168" y="457720"/>
            <a:ext cx="3713357" cy="807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74184AD-027A-D951-AA0A-CDEA2049DCE9}"/>
              </a:ext>
            </a:extLst>
          </p:cNvPr>
          <p:cNvSpPr/>
          <p:nvPr/>
        </p:nvSpPr>
        <p:spPr>
          <a:xfrm>
            <a:off x="4236403" y="454802"/>
            <a:ext cx="3713357" cy="914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graph of a bar graph&#10;&#10;AI-generated content may be incorrect.">
            <a:extLst>
              <a:ext uri="{FF2B5EF4-FFF2-40B4-BE49-F238E27FC236}">
                <a16:creationId xmlns:a16="http://schemas.microsoft.com/office/drawing/2014/main" id="{52D6762E-9FF1-E876-0C5E-67DCEA077BD0}"/>
              </a:ext>
            </a:extLst>
          </p:cNvPr>
          <p:cNvPicPr>
            <a:picLocks noChangeAspect="1"/>
          </p:cNvPicPr>
          <p:nvPr/>
        </p:nvPicPr>
        <p:blipFill>
          <a:blip r:embed="rId2"/>
          <a:stretch>
            <a:fillRect/>
          </a:stretch>
        </p:blipFill>
        <p:spPr>
          <a:xfrm>
            <a:off x="430029" y="2071674"/>
            <a:ext cx="4081564" cy="2324670"/>
          </a:xfrm>
          <a:prstGeom prst="rect">
            <a:avLst/>
          </a:prstGeom>
        </p:spPr>
      </p:pic>
      <p:pic>
        <p:nvPicPr>
          <p:cNvPr id="13" name="Picture 12" descr="A graph with purple and white bars&#10;&#10;AI-generated content may be incorrect.">
            <a:extLst>
              <a:ext uri="{FF2B5EF4-FFF2-40B4-BE49-F238E27FC236}">
                <a16:creationId xmlns:a16="http://schemas.microsoft.com/office/drawing/2014/main" id="{2F7BC203-F2B3-8D83-54E4-11F1F50A259B}"/>
              </a:ext>
            </a:extLst>
          </p:cNvPr>
          <p:cNvPicPr>
            <a:picLocks noChangeAspect="1"/>
          </p:cNvPicPr>
          <p:nvPr/>
        </p:nvPicPr>
        <p:blipFill>
          <a:blip r:embed="rId3"/>
          <a:stretch>
            <a:fillRect/>
          </a:stretch>
        </p:blipFill>
        <p:spPr>
          <a:xfrm>
            <a:off x="4236403" y="2082824"/>
            <a:ext cx="4059989" cy="2324671"/>
          </a:xfrm>
          <a:prstGeom prst="rect">
            <a:avLst/>
          </a:prstGeom>
        </p:spPr>
      </p:pic>
      <p:pic>
        <p:nvPicPr>
          <p:cNvPr id="17" name="Picture 16">
            <a:extLst>
              <a:ext uri="{FF2B5EF4-FFF2-40B4-BE49-F238E27FC236}">
                <a16:creationId xmlns:a16="http://schemas.microsoft.com/office/drawing/2014/main" id="{F137F676-5CD2-9AD8-C2AC-9B5D35DA2FA0}"/>
              </a:ext>
            </a:extLst>
          </p:cNvPr>
          <p:cNvPicPr>
            <a:picLocks noChangeAspect="1"/>
          </p:cNvPicPr>
          <p:nvPr/>
        </p:nvPicPr>
        <p:blipFill>
          <a:blip r:embed="rId4"/>
          <a:stretch>
            <a:fillRect/>
          </a:stretch>
        </p:blipFill>
        <p:spPr>
          <a:xfrm>
            <a:off x="877048" y="4396344"/>
            <a:ext cx="3005635" cy="380023"/>
          </a:xfrm>
          <a:prstGeom prst="rect">
            <a:avLst/>
          </a:prstGeom>
        </p:spPr>
      </p:pic>
      <p:pic>
        <p:nvPicPr>
          <p:cNvPr id="19" name="Picture 18" descr="A close-up of numbers&#10;&#10;AI-generated content may be incorrect.">
            <a:extLst>
              <a:ext uri="{FF2B5EF4-FFF2-40B4-BE49-F238E27FC236}">
                <a16:creationId xmlns:a16="http://schemas.microsoft.com/office/drawing/2014/main" id="{51C1FF50-123D-F089-830D-F4D77D7148CB}"/>
              </a:ext>
            </a:extLst>
          </p:cNvPr>
          <p:cNvPicPr>
            <a:picLocks noChangeAspect="1"/>
          </p:cNvPicPr>
          <p:nvPr/>
        </p:nvPicPr>
        <p:blipFill>
          <a:blip r:embed="rId5"/>
          <a:stretch>
            <a:fillRect/>
          </a:stretch>
        </p:blipFill>
        <p:spPr>
          <a:xfrm>
            <a:off x="4528641" y="4418645"/>
            <a:ext cx="3475511" cy="499355"/>
          </a:xfrm>
          <a:prstGeom prst="rect">
            <a:avLst/>
          </a:prstGeom>
        </p:spPr>
      </p:pic>
      <p:pic>
        <p:nvPicPr>
          <p:cNvPr id="22" name="Picture 21" descr="A graph with black dots and a blue line&#10;&#10;AI-generated content may be incorrect.">
            <a:extLst>
              <a:ext uri="{FF2B5EF4-FFF2-40B4-BE49-F238E27FC236}">
                <a16:creationId xmlns:a16="http://schemas.microsoft.com/office/drawing/2014/main" id="{C2A53435-7DF0-5E72-70C2-74F65004892B}"/>
              </a:ext>
            </a:extLst>
          </p:cNvPr>
          <p:cNvPicPr>
            <a:picLocks noChangeAspect="1"/>
          </p:cNvPicPr>
          <p:nvPr/>
        </p:nvPicPr>
        <p:blipFill>
          <a:blip r:embed="rId6"/>
          <a:stretch>
            <a:fillRect/>
          </a:stretch>
        </p:blipFill>
        <p:spPr>
          <a:xfrm>
            <a:off x="8485024" y="2237116"/>
            <a:ext cx="3349918" cy="1993785"/>
          </a:xfrm>
          <a:prstGeom prst="rect">
            <a:avLst/>
          </a:prstGeom>
        </p:spPr>
      </p:pic>
      <p:sp>
        <p:nvSpPr>
          <p:cNvPr id="23" name="TextBox 22">
            <a:extLst>
              <a:ext uri="{FF2B5EF4-FFF2-40B4-BE49-F238E27FC236}">
                <a16:creationId xmlns:a16="http://schemas.microsoft.com/office/drawing/2014/main" id="{DF613AED-07AD-8296-6B60-9BF69A64181A}"/>
              </a:ext>
            </a:extLst>
          </p:cNvPr>
          <p:cNvSpPr txBox="1"/>
          <p:nvPr/>
        </p:nvSpPr>
        <p:spPr>
          <a:xfrm>
            <a:off x="8413266" y="1904652"/>
            <a:ext cx="3197542" cy="276999"/>
          </a:xfrm>
          <a:prstGeom prst="rect">
            <a:avLst/>
          </a:prstGeom>
          <a:noFill/>
        </p:spPr>
        <p:txBody>
          <a:bodyPr wrap="none" rtlCol="0">
            <a:spAutoFit/>
          </a:bodyPr>
          <a:lstStyle/>
          <a:p>
            <a:r>
              <a:rPr lang="en-US" sz="1200" dirty="0"/>
              <a:t>Aggression Score vs. Adjusted Aggression Scores</a:t>
            </a:r>
          </a:p>
        </p:txBody>
      </p:sp>
    </p:spTree>
    <p:extLst>
      <p:ext uri="{BB962C8B-B14F-4D97-AF65-F5344CB8AC3E}">
        <p14:creationId xmlns:p14="http://schemas.microsoft.com/office/powerpoint/2010/main" val="2837887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995A8-C5AF-1449-77EA-4663ED050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350BC-2AB1-B00F-7621-729CD139E32B}"/>
              </a:ext>
            </a:extLst>
          </p:cNvPr>
          <p:cNvSpPr>
            <a:spLocks noGrp="1"/>
          </p:cNvSpPr>
          <p:nvPr>
            <p:ph type="title"/>
          </p:nvPr>
        </p:nvSpPr>
        <p:spPr/>
        <p:txBody>
          <a:bodyPr/>
          <a:lstStyle/>
          <a:p>
            <a:r>
              <a:rPr lang="en-US" dirty="0"/>
              <a:t>Summary statistics – independent variables</a:t>
            </a:r>
          </a:p>
        </p:txBody>
      </p:sp>
      <p:sp>
        <p:nvSpPr>
          <p:cNvPr id="8" name="Rectangle 7">
            <a:extLst>
              <a:ext uri="{FF2B5EF4-FFF2-40B4-BE49-F238E27FC236}">
                <a16:creationId xmlns:a16="http://schemas.microsoft.com/office/drawing/2014/main" id="{30B6D3EC-2626-5E9E-115F-C195F6214D04}"/>
              </a:ext>
            </a:extLst>
          </p:cNvPr>
          <p:cNvSpPr/>
          <p:nvPr/>
        </p:nvSpPr>
        <p:spPr>
          <a:xfrm>
            <a:off x="8038168" y="457720"/>
            <a:ext cx="3713357" cy="807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6BDC948-1E61-7736-5DC2-950D9D6B57DD}"/>
              </a:ext>
            </a:extLst>
          </p:cNvPr>
          <p:cNvSpPr/>
          <p:nvPr/>
        </p:nvSpPr>
        <p:spPr>
          <a:xfrm>
            <a:off x="4236403" y="454802"/>
            <a:ext cx="3713357" cy="914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with a blue and black line&#10;&#10;AI-generated content may be incorrect.">
            <a:extLst>
              <a:ext uri="{FF2B5EF4-FFF2-40B4-BE49-F238E27FC236}">
                <a16:creationId xmlns:a16="http://schemas.microsoft.com/office/drawing/2014/main" id="{5C4296E1-3CBB-36B2-917E-4AAE89F8D407}"/>
              </a:ext>
            </a:extLst>
          </p:cNvPr>
          <p:cNvPicPr>
            <a:picLocks noChangeAspect="1"/>
          </p:cNvPicPr>
          <p:nvPr/>
        </p:nvPicPr>
        <p:blipFill>
          <a:blip r:embed="rId3"/>
          <a:stretch>
            <a:fillRect/>
          </a:stretch>
        </p:blipFill>
        <p:spPr>
          <a:xfrm>
            <a:off x="658147" y="2120713"/>
            <a:ext cx="3466178" cy="2303879"/>
          </a:xfrm>
          <a:prstGeom prst="rect">
            <a:avLst/>
          </a:prstGeom>
        </p:spPr>
      </p:pic>
      <p:pic>
        <p:nvPicPr>
          <p:cNvPr id="12" name="Picture 11" descr="A graph with blue rectangles and black lines&#10;&#10;AI-generated content may be incorrect.">
            <a:extLst>
              <a:ext uri="{FF2B5EF4-FFF2-40B4-BE49-F238E27FC236}">
                <a16:creationId xmlns:a16="http://schemas.microsoft.com/office/drawing/2014/main" id="{4E4D0995-3110-A510-7ADB-608CA1F788A5}"/>
              </a:ext>
            </a:extLst>
          </p:cNvPr>
          <p:cNvPicPr>
            <a:picLocks noChangeAspect="1"/>
          </p:cNvPicPr>
          <p:nvPr/>
        </p:nvPicPr>
        <p:blipFill>
          <a:blip r:embed="rId4"/>
          <a:stretch>
            <a:fillRect/>
          </a:stretch>
        </p:blipFill>
        <p:spPr>
          <a:xfrm>
            <a:off x="5171718" y="2094370"/>
            <a:ext cx="3192189" cy="2187561"/>
          </a:xfrm>
          <a:prstGeom prst="rect">
            <a:avLst/>
          </a:prstGeom>
        </p:spPr>
      </p:pic>
      <p:pic>
        <p:nvPicPr>
          <p:cNvPr id="15" name="Picture 14" descr="A graph showing different types of data&#10;&#10;AI-generated content may be incorrect.">
            <a:extLst>
              <a:ext uri="{FF2B5EF4-FFF2-40B4-BE49-F238E27FC236}">
                <a16:creationId xmlns:a16="http://schemas.microsoft.com/office/drawing/2014/main" id="{C970DF5E-826A-8831-271F-D064A717433F}"/>
              </a:ext>
            </a:extLst>
          </p:cNvPr>
          <p:cNvPicPr>
            <a:picLocks noChangeAspect="1"/>
          </p:cNvPicPr>
          <p:nvPr/>
        </p:nvPicPr>
        <p:blipFill>
          <a:blip r:embed="rId5"/>
          <a:stretch>
            <a:fillRect/>
          </a:stretch>
        </p:blipFill>
        <p:spPr>
          <a:xfrm>
            <a:off x="7178937" y="4315715"/>
            <a:ext cx="3246295" cy="2187561"/>
          </a:xfrm>
          <a:prstGeom prst="rect">
            <a:avLst/>
          </a:prstGeom>
        </p:spPr>
      </p:pic>
      <p:pic>
        <p:nvPicPr>
          <p:cNvPr id="18" name="Picture 17" descr="A graph with blue rectangular objects&#10;&#10;AI-generated content may be incorrect.">
            <a:extLst>
              <a:ext uri="{FF2B5EF4-FFF2-40B4-BE49-F238E27FC236}">
                <a16:creationId xmlns:a16="http://schemas.microsoft.com/office/drawing/2014/main" id="{13C11B73-DC9A-93B9-B88E-4BF7BBB419FD}"/>
              </a:ext>
            </a:extLst>
          </p:cNvPr>
          <p:cNvPicPr>
            <a:picLocks noChangeAspect="1"/>
          </p:cNvPicPr>
          <p:nvPr/>
        </p:nvPicPr>
        <p:blipFill>
          <a:blip r:embed="rId6"/>
          <a:stretch>
            <a:fillRect/>
          </a:stretch>
        </p:blipFill>
        <p:spPr>
          <a:xfrm>
            <a:off x="3025496" y="4424592"/>
            <a:ext cx="3067585" cy="2078684"/>
          </a:xfrm>
          <a:prstGeom prst="rect">
            <a:avLst/>
          </a:prstGeom>
        </p:spPr>
      </p:pic>
      <p:sp>
        <p:nvSpPr>
          <p:cNvPr id="22" name="TextBox 21">
            <a:extLst>
              <a:ext uri="{FF2B5EF4-FFF2-40B4-BE49-F238E27FC236}">
                <a16:creationId xmlns:a16="http://schemas.microsoft.com/office/drawing/2014/main" id="{368901C1-2594-371A-BAA4-33BC947A4E52}"/>
              </a:ext>
            </a:extLst>
          </p:cNvPr>
          <p:cNvSpPr txBox="1"/>
          <p:nvPr/>
        </p:nvSpPr>
        <p:spPr>
          <a:xfrm>
            <a:off x="918171" y="1879601"/>
            <a:ext cx="2650219" cy="276999"/>
          </a:xfrm>
          <a:prstGeom prst="rect">
            <a:avLst/>
          </a:prstGeom>
          <a:noFill/>
        </p:spPr>
        <p:txBody>
          <a:bodyPr wrap="square" rtlCol="0">
            <a:spAutoFit/>
          </a:bodyPr>
          <a:lstStyle/>
          <a:p>
            <a:r>
              <a:rPr lang="en-US" sz="1200" dirty="0"/>
              <a:t>Adjusted aggression vs. Owned Status</a:t>
            </a:r>
          </a:p>
        </p:txBody>
      </p:sp>
      <p:sp>
        <p:nvSpPr>
          <p:cNvPr id="23" name="TextBox 22">
            <a:extLst>
              <a:ext uri="{FF2B5EF4-FFF2-40B4-BE49-F238E27FC236}">
                <a16:creationId xmlns:a16="http://schemas.microsoft.com/office/drawing/2014/main" id="{5C75B9F4-890B-810B-8A90-58BC3E4C0E64}"/>
              </a:ext>
            </a:extLst>
          </p:cNvPr>
          <p:cNvSpPr txBox="1"/>
          <p:nvPr/>
        </p:nvSpPr>
        <p:spPr>
          <a:xfrm>
            <a:off x="5377681" y="1879601"/>
            <a:ext cx="2572079" cy="276999"/>
          </a:xfrm>
          <a:prstGeom prst="rect">
            <a:avLst/>
          </a:prstGeom>
          <a:noFill/>
        </p:spPr>
        <p:txBody>
          <a:bodyPr wrap="square" rtlCol="0">
            <a:spAutoFit/>
          </a:bodyPr>
          <a:lstStyle/>
          <a:p>
            <a:r>
              <a:rPr lang="en-US" sz="1200" dirty="0"/>
              <a:t>vs. number of household dogs</a:t>
            </a:r>
          </a:p>
        </p:txBody>
      </p:sp>
      <p:sp>
        <p:nvSpPr>
          <p:cNvPr id="24" name="TextBox 23">
            <a:extLst>
              <a:ext uri="{FF2B5EF4-FFF2-40B4-BE49-F238E27FC236}">
                <a16:creationId xmlns:a16="http://schemas.microsoft.com/office/drawing/2014/main" id="{13E877C6-0E87-17CC-62FE-85869AA96099}"/>
              </a:ext>
            </a:extLst>
          </p:cNvPr>
          <p:cNvSpPr txBox="1"/>
          <p:nvPr/>
        </p:nvSpPr>
        <p:spPr>
          <a:xfrm>
            <a:off x="3215845" y="4219701"/>
            <a:ext cx="2572079" cy="276999"/>
          </a:xfrm>
          <a:prstGeom prst="rect">
            <a:avLst/>
          </a:prstGeom>
          <a:noFill/>
        </p:spPr>
        <p:txBody>
          <a:bodyPr wrap="square" rtlCol="0">
            <a:spAutoFit/>
          </a:bodyPr>
          <a:lstStyle/>
          <a:p>
            <a:r>
              <a:rPr lang="en-US" sz="1200" dirty="0"/>
              <a:t>vs. pure bred</a:t>
            </a:r>
          </a:p>
        </p:txBody>
      </p:sp>
      <p:sp>
        <p:nvSpPr>
          <p:cNvPr id="25" name="TextBox 24">
            <a:extLst>
              <a:ext uri="{FF2B5EF4-FFF2-40B4-BE49-F238E27FC236}">
                <a16:creationId xmlns:a16="http://schemas.microsoft.com/office/drawing/2014/main" id="{5AF7995B-1729-078A-838A-E7D8694164A9}"/>
              </a:ext>
            </a:extLst>
          </p:cNvPr>
          <p:cNvSpPr txBox="1"/>
          <p:nvPr/>
        </p:nvSpPr>
        <p:spPr>
          <a:xfrm>
            <a:off x="7322767" y="4141949"/>
            <a:ext cx="2572079" cy="276999"/>
          </a:xfrm>
          <a:prstGeom prst="rect">
            <a:avLst/>
          </a:prstGeom>
          <a:noFill/>
        </p:spPr>
        <p:txBody>
          <a:bodyPr wrap="square" rtlCol="0">
            <a:spAutoFit/>
          </a:bodyPr>
          <a:lstStyle/>
          <a:p>
            <a:r>
              <a:rPr lang="en-US" sz="1200" dirty="0"/>
              <a:t>vs. origin</a:t>
            </a:r>
          </a:p>
        </p:txBody>
      </p:sp>
      <p:pic>
        <p:nvPicPr>
          <p:cNvPr id="3" name="Picture 2" descr="A graph with black dots and a blue line&#10;&#10;AI-generated content may be incorrect.">
            <a:extLst>
              <a:ext uri="{FF2B5EF4-FFF2-40B4-BE49-F238E27FC236}">
                <a16:creationId xmlns:a16="http://schemas.microsoft.com/office/drawing/2014/main" id="{E47EDD7F-2119-BDCD-816D-DDB3E302ADA1}"/>
              </a:ext>
            </a:extLst>
          </p:cNvPr>
          <p:cNvPicPr>
            <a:picLocks noChangeAspect="1"/>
          </p:cNvPicPr>
          <p:nvPr/>
        </p:nvPicPr>
        <p:blipFill>
          <a:blip r:embed="rId7"/>
          <a:stretch>
            <a:fillRect/>
          </a:stretch>
        </p:blipFill>
        <p:spPr>
          <a:xfrm>
            <a:off x="8918216" y="2089214"/>
            <a:ext cx="3014031" cy="2052735"/>
          </a:xfrm>
          <a:prstGeom prst="rect">
            <a:avLst/>
          </a:prstGeom>
        </p:spPr>
      </p:pic>
      <p:sp>
        <p:nvSpPr>
          <p:cNvPr id="4" name="TextBox 3">
            <a:extLst>
              <a:ext uri="{FF2B5EF4-FFF2-40B4-BE49-F238E27FC236}">
                <a16:creationId xmlns:a16="http://schemas.microsoft.com/office/drawing/2014/main" id="{7AFC4155-3F92-87B9-1BA4-F4BC0AC822F4}"/>
              </a:ext>
            </a:extLst>
          </p:cNvPr>
          <p:cNvSpPr txBox="1"/>
          <p:nvPr/>
        </p:nvSpPr>
        <p:spPr>
          <a:xfrm>
            <a:off x="8992206" y="1902855"/>
            <a:ext cx="559769" cy="276999"/>
          </a:xfrm>
          <a:prstGeom prst="rect">
            <a:avLst/>
          </a:prstGeom>
          <a:noFill/>
        </p:spPr>
        <p:txBody>
          <a:bodyPr wrap="none" rtlCol="0">
            <a:spAutoFit/>
          </a:bodyPr>
          <a:lstStyle/>
          <a:p>
            <a:r>
              <a:rPr lang="en-US" sz="1200" dirty="0"/>
              <a:t>vs age</a:t>
            </a:r>
          </a:p>
        </p:txBody>
      </p:sp>
    </p:spTree>
    <p:extLst>
      <p:ext uri="{BB962C8B-B14F-4D97-AF65-F5344CB8AC3E}">
        <p14:creationId xmlns:p14="http://schemas.microsoft.com/office/powerpoint/2010/main" val="1783207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D89FB-3D82-9400-2C20-A5B1E3ABC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DFDA3-4131-81AE-BF7D-C36B3C73A182}"/>
              </a:ext>
            </a:extLst>
          </p:cNvPr>
          <p:cNvSpPr>
            <a:spLocks noGrp="1"/>
          </p:cNvSpPr>
          <p:nvPr>
            <p:ph type="title"/>
          </p:nvPr>
        </p:nvSpPr>
        <p:spPr/>
        <p:txBody>
          <a:bodyPr/>
          <a:lstStyle/>
          <a:p>
            <a:r>
              <a:rPr lang="en-US" dirty="0"/>
              <a:t>Statistical outputs – Regression Results</a:t>
            </a:r>
          </a:p>
        </p:txBody>
      </p:sp>
      <p:sp>
        <p:nvSpPr>
          <p:cNvPr id="4" name="Rectangle 3">
            <a:extLst>
              <a:ext uri="{FF2B5EF4-FFF2-40B4-BE49-F238E27FC236}">
                <a16:creationId xmlns:a16="http://schemas.microsoft.com/office/drawing/2014/main" id="{EE123303-57E2-F1B8-5A39-354672AB846C}"/>
              </a:ext>
            </a:extLst>
          </p:cNvPr>
          <p:cNvSpPr/>
          <p:nvPr/>
        </p:nvSpPr>
        <p:spPr>
          <a:xfrm>
            <a:off x="8038168" y="457720"/>
            <a:ext cx="3713357" cy="807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0A9B866-7CB9-8732-C3D1-FA121DB17160}"/>
              </a:ext>
            </a:extLst>
          </p:cNvPr>
          <p:cNvSpPr/>
          <p:nvPr/>
        </p:nvSpPr>
        <p:spPr>
          <a:xfrm>
            <a:off x="440475" y="456937"/>
            <a:ext cx="3713357" cy="914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shot of a document&#10;&#10;AI-generated content may be incorrect.">
            <a:extLst>
              <a:ext uri="{FF2B5EF4-FFF2-40B4-BE49-F238E27FC236}">
                <a16:creationId xmlns:a16="http://schemas.microsoft.com/office/drawing/2014/main" id="{4E0C4B15-B315-43E9-5B57-37773F910927}"/>
              </a:ext>
            </a:extLst>
          </p:cNvPr>
          <p:cNvPicPr>
            <a:picLocks noChangeAspect="1"/>
          </p:cNvPicPr>
          <p:nvPr/>
        </p:nvPicPr>
        <p:blipFill>
          <a:blip r:embed="rId2"/>
          <a:stretch>
            <a:fillRect/>
          </a:stretch>
        </p:blipFill>
        <p:spPr>
          <a:xfrm>
            <a:off x="822869" y="2213130"/>
            <a:ext cx="3162300" cy="408940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A64C90CE-E228-45CE-1819-29B068420038}"/>
              </a:ext>
            </a:extLst>
          </p:cNvPr>
          <p:cNvPicPr>
            <a:picLocks noChangeAspect="1"/>
          </p:cNvPicPr>
          <p:nvPr/>
        </p:nvPicPr>
        <p:blipFill>
          <a:blip r:embed="rId3"/>
          <a:stretch>
            <a:fillRect/>
          </a:stretch>
        </p:blipFill>
        <p:spPr>
          <a:xfrm>
            <a:off x="5206845" y="2213130"/>
            <a:ext cx="3111500" cy="3289300"/>
          </a:xfrm>
          <a:prstGeom prst="rect">
            <a:avLst/>
          </a:prstGeom>
        </p:spPr>
      </p:pic>
      <p:sp>
        <p:nvSpPr>
          <p:cNvPr id="12" name="TextBox 11">
            <a:extLst>
              <a:ext uri="{FF2B5EF4-FFF2-40B4-BE49-F238E27FC236}">
                <a16:creationId xmlns:a16="http://schemas.microsoft.com/office/drawing/2014/main" id="{69A10128-393D-CC40-7A53-DDECA0DB5D0E}"/>
              </a:ext>
            </a:extLst>
          </p:cNvPr>
          <p:cNvSpPr txBox="1"/>
          <p:nvPr/>
        </p:nvSpPr>
        <p:spPr>
          <a:xfrm>
            <a:off x="440475" y="1826573"/>
            <a:ext cx="3367668" cy="369332"/>
          </a:xfrm>
          <a:prstGeom prst="rect">
            <a:avLst/>
          </a:prstGeom>
          <a:noFill/>
        </p:spPr>
        <p:txBody>
          <a:bodyPr wrap="square" rtlCol="0">
            <a:spAutoFit/>
          </a:bodyPr>
          <a:lstStyle/>
          <a:p>
            <a:r>
              <a:rPr lang="en-US" dirty="0"/>
              <a:t>1. Initial (all variable) Result</a:t>
            </a:r>
          </a:p>
        </p:txBody>
      </p:sp>
      <p:sp>
        <p:nvSpPr>
          <p:cNvPr id="13" name="TextBox 12">
            <a:extLst>
              <a:ext uri="{FF2B5EF4-FFF2-40B4-BE49-F238E27FC236}">
                <a16:creationId xmlns:a16="http://schemas.microsoft.com/office/drawing/2014/main" id="{9882C8D3-A5E0-A485-0C6D-299B4D8D4BAE}"/>
              </a:ext>
            </a:extLst>
          </p:cNvPr>
          <p:cNvSpPr txBox="1"/>
          <p:nvPr/>
        </p:nvSpPr>
        <p:spPr>
          <a:xfrm>
            <a:off x="4997064" y="1843798"/>
            <a:ext cx="4035424" cy="369332"/>
          </a:xfrm>
          <a:prstGeom prst="rect">
            <a:avLst/>
          </a:prstGeom>
          <a:noFill/>
        </p:spPr>
        <p:txBody>
          <a:bodyPr wrap="square" rtlCol="0">
            <a:spAutoFit/>
          </a:bodyPr>
          <a:lstStyle/>
          <a:p>
            <a:r>
              <a:rPr lang="en-US" dirty="0"/>
              <a:t>2. Final result using backwards selection</a:t>
            </a:r>
          </a:p>
        </p:txBody>
      </p:sp>
      <p:sp>
        <p:nvSpPr>
          <p:cNvPr id="14" name="Rounded Rectangle 13">
            <a:extLst>
              <a:ext uri="{FF2B5EF4-FFF2-40B4-BE49-F238E27FC236}">
                <a16:creationId xmlns:a16="http://schemas.microsoft.com/office/drawing/2014/main" id="{52835B25-9CF7-B6E0-FDCF-1C3D26881A76}"/>
              </a:ext>
            </a:extLst>
          </p:cNvPr>
          <p:cNvSpPr/>
          <p:nvPr/>
        </p:nvSpPr>
        <p:spPr>
          <a:xfrm>
            <a:off x="3204588" y="5874973"/>
            <a:ext cx="497617" cy="280871"/>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AA978288-611E-A802-A79D-BFF1FB522384}"/>
              </a:ext>
            </a:extLst>
          </p:cNvPr>
          <p:cNvSpPr/>
          <p:nvPr/>
        </p:nvSpPr>
        <p:spPr>
          <a:xfrm>
            <a:off x="7518249" y="5124124"/>
            <a:ext cx="497617" cy="280871"/>
          </a:xfrm>
          <a:prstGeom prst="round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Snip Diagonal Corner Rectangle 15">
            <a:extLst>
              <a:ext uri="{FF2B5EF4-FFF2-40B4-BE49-F238E27FC236}">
                <a16:creationId xmlns:a16="http://schemas.microsoft.com/office/drawing/2014/main" id="{A4696CA3-FCE3-62A2-F4DE-FDBCDFC3A2BB}"/>
              </a:ext>
            </a:extLst>
          </p:cNvPr>
          <p:cNvSpPr/>
          <p:nvPr/>
        </p:nvSpPr>
        <p:spPr>
          <a:xfrm>
            <a:off x="8116925" y="3746811"/>
            <a:ext cx="1183192" cy="369332"/>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Age ~0.63</a:t>
            </a:r>
          </a:p>
        </p:txBody>
      </p:sp>
    </p:spTree>
    <p:extLst>
      <p:ext uri="{BB962C8B-B14F-4D97-AF65-F5344CB8AC3E}">
        <p14:creationId xmlns:p14="http://schemas.microsoft.com/office/powerpoint/2010/main" val="2562658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65B85-235A-CEBB-F3D6-25A0650DC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2130E5-98C8-E39B-5AFA-3310E97D58E7}"/>
              </a:ext>
            </a:extLst>
          </p:cNvPr>
          <p:cNvSpPr>
            <a:spLocks noGrp="1"/>
          </p:cNvSpPr>
          <p:nvPr>
            <p:ph type="title"/>
          </p:nvPr>
        </p:nvSpPr>
        <p:spPr/>
        <p:txBody>
          <a:bodyPr/>
          <a:lstStyle/>
          <a:p>
            <a:r>
              <a:rPr lang="en-US" dirty="0"/>
              <a:t>Statistical outputs – checking assumptions</a:t>
            </a:r>
          </a:p>
        </p:txBody>
      </p:sp>
      <p:sp>
        <p:nvSpPr>
          <p:cNvPr id="4" name="Rectangle 3">
            <a:extLst>
              <a:ext uri="{FF2B5EF4-FFF2-40B4-BE49-F238E27FC236}">
                <a16:creationId xmlns:a16="http://schemas.microsoft.com/office/drawing/2014/main" id="{0AB8775C-AC8C-0CC3-D082-600A196F68E6}"/>
              </a:ext>
            </a:extLst>
          </p:cNvPr>
          <p:cNvSpPr/>
          <p:nvPr/>
        </p:nvSpPr>
        <p:spPr>
          <a:xfrm>
            <a:off x="8038168" y="457720"/>
            <a:ext cx="3713357" cy="807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33A2164-F056-D60C-3C66-D0D4E3B38A49}"/>
              </a:ext>
            </a:extLst>
          </p:cNvPr>
          <p:cNvSpPr/>
          <p:nvPr/>
        </p:nvSpPr>
        <p:spPr>
          <a:xfrm>
            <a:off x="440475" y="456937"/>
            <a:ext cx="3713357" cy="914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aph showing a number of dots&#10;&#10;AI-generated content may be incorrect.">
            <a:extLst>
              <a:ext uri="{FF2B5EF4-FFF2-40B4-BE49-F238E27FC236}">
                <a16:creationId xmlns:a16="http://schemas.microsoft.com/office/drawing/2014/main" id="{342FF7C4-E561-E397-67C3-1AE4C5803310}"/>
              </a:ext>
            </a:extLst>
          </p:cNvPr>
          <p:cNvPicPr>
            <a:picLocks noChangeAspect="1"/>
          </p:cNvPicPr>
          <p:nvPr/>
        </p:nvPicPr>
        <p:blipFill>
          <a:blip r:embed="rId3"/>
          <a:stretch>
            <a:fillRect/>
          </a:stretch>
        </p:blipFill>
        <p:spPr>
          <a:xfrm>
            <a:off x="955801" y="2359447"/>
            <a:ext cx="3096630" cy="1888604"/>
          </a:xfrm>
          <a:prstGeom prst="rect">
            <a:avLst/>
          </a:prstGeom>
        </p:spPr>
      </p:pic>
      <p:pic>
        <p:nvPicPr>
          <p:cNvPr id="8" name="Picture 7" descr="A graph showing a graph of a city&#10;&#10;AI-generated content may be incorrect.">
            <a:extLst>
              <a:ext uri="{FF2B5EF4-FFF2-40B4-BE49-F238E27FC236}">
                <a16:creationId xmlns:a16="http://schemas.microsoft.com/office/drawing/2014/main" id="{54EC7DB1-FB45-F520-4307-B57159F86627}"/>
              </a:ext>
            </a:extLst>
          </p:cNvPr>
          <p:cNvPicPr>
            <a:picLocks noChangeAspect="1"/>
          </p:cNvPicPr>
          <p:nvPr/>
        </p:nvPicPr>
        <p:blipFill>
          <a:blip r:embed="rId4"/>
          <a:stretch>
            <a:fillRect/>
          </a:stretch>
        </p:blipFill>
        <p:spPr>
          <a:xfrm>
            <a:off x="3785103" y="4865766"/>
            <a:ext cx="2920704" cy="1757304"/>
          </a:xfrm>
          <a:prstGeom prst="rect">
            <a:avLst/>
          </a:prstGeom>
        </p:spPr>
      </p:pic>
      <p:pic>
        <p:nvPicPr>
          <p:cNvPr id="17" name="Picture 16" descr="A graph showing the growth of a number of individuals&#10;&#10;AI-generated content may be incorrect.">
            <a:extLst>
              <a:ext uri="{FF2B5EF4-FFF2-40B4-BE49-F238E27FC236}">
                <a16:creationId xmlns:a16="http://schemas.microsoft.com/office/drawing/2014/main" id="{8525FB5B-8A6A-5526-8A18-28F64D20766B}"/>
              </a:ext>
            </a:extLst>
          </p:cNvPr>
          <p:cNvPicPr>
            <a:picLocks noChangeAspect="1"/>
          </p:cNvPicPr>
          <p:nvPr/>
        </p:nvPicPr>
        <p:blipFill>
          <a:blip r:embed="rId5"/>
          <a:stretch>
            <a:fillRect/>
          </a:stretch>
        </p:blipFill>
        <p:spPr>
          <a:xfrm>
            <a:off x="6550849" y="2350088"/>
            <a:ext cx="2821966" cy="1694734"/>
          </a:xfrm>
          <a:prstGeom prst="rect">
            <a:avLst/>
          </a:prstGeom>
        </p:spPr>
      </p:pic>
      <p:sp>
        <p:nvSpPr>
          <p:cNvPr id="18" name="Rounded Rectangle 17">
            <a:extLst>
              <a:ext uri="{FF2B5EF4-FFF2-40B4-BE49-F238E27FC236}">
                <a16:creationId xmlns:a16="http://schemas.microsoft.com/office/drawing/2014/main" id="{BE27DD25-F940-7BBF-9D18-1138D8B31B41}"/>
              </a:ext>
            </a:extLst>
          </p:cNvPr>
          <p:cNvSpPr/>
          <p:nvPr/>
        </p:nvSpPr>
        <p:spPr>
          <a:xfrm>
            <a:off x="955801" y="2075216"/>
            <a:ext cx="3299432" cy="2172836"/>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#Plot 1 Residuals vs. Fitted Values</a:t>
            </a:r>
          </a:p>
        </p:txBody>
      </p:sp>
      <p:sp>
        <p:nvSpPr>
          <p:cNvPr id="19" name="Rounded Rectangle 18">
            <a:extLst>
              <a:ext uri="{FF2B5EF4-FFF2-40B4-BE49-F238E27FC236}">
                <a16:creationId xmlns:a16="http://schemas.microsoft.com/office/drawing/2014/main" id="{507615C6-73A1-43FE-1EC4-323041080BDA}"/>
              </a:ext>
            </a:extLst>
          </p:cNvPr>
          <p:cNvSpPr/>
          <p:nvPr/>
        </p:nvSpPr>
        <p:spPr>
          <a:xfrm>
            <a:off x="6388452" y="2033022"/>
            <a:ext cx="3299432" cy="2172836"/>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 Plot 3 Normal prob plot of residuals</a:t>
            </a:r>
          </a:p>
        </p:txBody>
      </p:sp>
      <p:sp>
        <p:nvSpPr>
          <p:cNvPr id="20" name="Rounded Rectangle 19">
            <a:extLst>
              <a:ext uri="{FF2B5EF4-FFF2-40B4-BE49-F238E27FC236}">
                <a16:creationId xmlns:a16="http://schemas.microsoft.com/office/drawing/2014/main" id="{DBA6863E-8419-7942-E7A1-146774C74E8B}"/>
              </a:ext>
            </a:extLst>
          </p:cNvPr>
          <p:cNvSpPr/>
          <p:nvPr/>
        </p:nvSpPr>
        <p:spPr>
          <a:xfrm>
            <a:off x="3595739" y="4548700"/>
            <a:ext cx="3299432" cy="2172836"/>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 Plot 2 Distribution of residuals</a:t>
            </a:r>
          </a:p>
        </p:txBody>
      </p:sp>
      <p:sp>
        <p:nvSpPr>
          <p:cNvPr id="21" name="TextBox 20">
            <a:extLst>
              <a:ext uri="{FF2B5EF4-FFF2-40B4-BE49-F238E27FC236}">
                <a16:creationId xmlns:a16="http://schemas.microsoft.com/office/drawing/2014/main" id="{790D2A2F-06E6-CD64-FD7E-C2C351503AC2}"/>
              </a:ext>
            </a:extLst>
          </p:cNvPr>
          <p:cNvSpPr txBox="1"/>
          <p:nvPr/>
        </p:nvSpPr>
        <p:spPr>
          <a:xfrm>
            <a:off x="1059366" y="4532282"/>
            <a:ext cx="1918010" cy="1569660"/>
          </a:xfrm>
          <a:prstGeom prst="rect">
            <a:avLst/>
          </a:prstGeom>
          <a:noFill/>
        </p:spPr>
        <p:txBody>
          <a:bodyPr wrap="square" rtlCol="0">
            <a:spAutoFit/>
          </a:bodyPr>
          <a:lstStyle/>
          <a:p>
            <a:r>
              <a:rPr lang="en-US" sz="1600" dirty="0"/>
              <a:t>^ plot looks overall randomly scattered though looks slightly wider on right.  </a:t>
            </a:r>
          </a:p>
          <a:p>
            <a:r>
              <a:rPr lang="en-US" sz="1600" i="1" dirty="0"/>
              <a:t>Impact of categorical data?</a:t>
            </a:r>
          </a:p>
        </p:txBody>
      </p:sp>
      <p:sp>
        <p:nvSpPr>
          <p:cNvPr id="22" name="TextBox 21">
            <a:extLst>
              <a:ext uri="{FF2B5EF4-FFF2-40B4-BE49-F238E27FC236}">
                <a16:creationId xmlns:a16="http://schemas.microsoft.com/office/drawing/2014/main" id="{89CE5ADF-89B1-2420-1CDA-2BBC57C724B9}"/>
              </a:ext>
            </a:extLst>
          </p:cNvPr>
          <p:cNvSpPr txBox="1"/>
          <p:nvPr/>
        </p:nvSpPr>
        <p:spPr>
          <a:xfrm>
            <a:off x="7189470" y="4522924"/>
            <a:ext cx="2498413" cy="830997"/>
          </a:xfrm>
          <a:prstGeom prst="rect">
            <a:avLst/>
          </a:prstGeom>
          <a:noFill/>
        </p:spPr>
        <p:txBody>
          <a:bodyPr wrap="square" rtlCol="0">
            <a:spAutoFit/>
          </a:bodyPr>
          <a:lstStyle/>
          <a:p>
            <a:r>
              <a:rPr lang="en-US" sz="1600" dirty="0"/>
              <a:t>&lt; ^ residuals appear normally distributed and nearly normal.   </a:t>
            </a:r>
          </a:p>
        </p:txBody>
      </p:sp>
    </p:spTree>
    <p:extLst>
      <p:ext uri="{BB962C8B-B14F-4D97-AF65-F5344CB8AC3E}">
        <p14:creationId xmlns:p14="http://schemas.microsoft.com/office/powerpoint/2010/main" val="2048299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Content Placeholder 16" descr="A graph showing a number of different types of dog kennels&#10;&#10;AI-generated content may be incorrect.">
            <a:extLst>
              <a:ext uri="{FF2B5EF4-FFF2-40B4-BE49-F238E27FC236}">
                <a16:creationId xmlns:a16="http://schemas.microsoft.com/office/drawing/2014/main" id="{970A0F87-D42F-3A4D-83A6-2BA133B9BF77}"/>
              </a:ext>
            </a:extLst>
          </p:cNvPr>
          <p:cNvPicPr>
            <a:picLocks noGrp="1" noChangeAspect="1"/>
          </p:cNvPicPr>
          <p:nvPr>
            <p:ph idx="1"/>
          </p:nvPr>
        </p:nvPicPr>
        <p:blipFill>
          <a:blip r:embed="rId3"/>
          <a:stretch>
            <a:fillRect/>
          </a:stretch>
        </p:blipFill>
        <p:spPr>
          <a:xfrm>
            <a:off x="769282" y="2197363"/>
            <a:ext cx="3304906" cy="2061476"/>
          </a:xfrm>
        </p:spPr>
      </p:pic>
      <p:pic>
        <p:nvPicPr>
          <p:cNvPr id="19" name="Picture 18" descr="A graph showing a number of blue rectangular boxes&#10;&#10;AI-generated content may be incorrect.">
            <a:extLst>
              <a:ext uri="{FF2B5EF4-FFF2-40B4-BE49-F238E27FC236}">
                <a16:creationId xmlns:a16="http://schemas.microsoft.com/office/drawing/2014/main" id="{19C5A372-1D6E-9587-59F0-AEC1F46CEF42}"/>
              </a:ext>
            </a:extLst>
          </p:cNvPr>
          <p:cNvPicPr>
            <a:picLocks noChangeAspect="1"/>
          </p:cNvPicPr>
          <p:nvPr/>
        </p:nvPicPr>
        <p:blipFill>
          <a:blip r:embed="rId4"/>
          <a:stretch>
            <a:fillRect/>
          </a:stretch>
        </p:blipFill>
        <p:spPr>
          <a:xfrm>
            <a:off x="4394690" y="2220547"/>
            <a:ext cx="3402620" cy="2061476"/>
          </a:xfrm>
          <a:prstGeom prst="rect">
            <a:avLst/>
          </a:prstGeom>
        </p:spPr>
      </p:pic>
      <p:pic>
        <p:nvPicPr>
          <p:cNvPr id="21" name="Picture 20" descr="A diagram of a graph&#10;&#10;AI-generated content may be incorrect.">
            <a:extLst>
              <a:ext uri="{FF2B5EF4-FFF2-40B4-BE49-F238E27FC236}">
                <a16:creationId xmlns:a16="http://schemas.microsoft.com/office/drawing/2014/main" id="{C1DDE56D-9941-F798-86E3-57EBEF730C22}"/>
              </a:ext>
            </a:extLst>
          </p:cNvPr>
          <p:cNvPicPr>
            <a:picLocks noChangeAspect="1"/>
          </p:cNvPicPr>
          <p:nvPr/>
        </p:nvPicPr>
        <p:blipFill>
          <a:blip r:embed="rId5"/>
          <a:stretch>
            <a:fillRect/>
          </a:stretch>
        </p:blipFill>
        <p:spPr>
          <a:xfrm>
            <a:off x="7061376" y="4477039"/>
            <a:ext cx="3273808" cy="2001935"/>
          </a:xfrm>
          <a:prstGeom prst="rect">
            <a:avLst/>
          </a:prstGeom>
        </p:spPr>
      </p:pic>
      <p:pic>
        <p:nvPicPr>
          <p:cNvPr id="27" name="Picture 26" descr="A graph with blue rectangles and black lines&#10;&#10;AI-generated content may be incorrect.">
            <a:extLst>
              <a:ext uri="{FF2B5EF4-FFF2-40B4-BE49-F238E27FC236}">
                <a16:creationId xmlns:a16="http://schemas.microsoft.com/office/drawing/2014/main" id="{7AC18F50-5891-65D6-DAF9-1F3430C232B1}"/>
              </a:ext>
            </a:extLst>
          </p:cNvPr>
          <p:cNvPicPr>
            <a:picLocks noChangeAspect="1"/>
          </p:cNvPicPr>
          <p:nvPr/>
        </p:nvPicPr>
        <p:blipFill>
          <a:blip r:embed="rId6"/>
          <a:stretch>
            <a:fillRect/>
          </a:stretch>
        </p:blipFill>
        <p:spPr>
          <a:xfrm>
            <a:off x="2413111" y="4593629"/>
            <a:ext cx="3304906" cy="2057948"/>
          </a:xfrm>
          <a:prstGeom prst="rect">
            <a:avLst/>
          </a:prstGeom>
        </p:spPr>
      </p:pic>
      <p:sp>
        <p:nvSpPr>
          <p:cNvPr id="28" name="TextBox 27">
            <a:extLst>
              <a:ext uri="{FF2B5EF4-FFF2-40B4-BE49-F238E27FC236}">
                <a16:creationId xmlns:a16="http://schemas.microsoft.com/office/drawing/2014/main" id="{D9E0BF81-7527-1B86-D6D5-D83058F8A035}"/>
              </a:ext>
            </a:extLst>
          </p:cNvPr>
          <p:cNvSpPr txBox="1"/>
          <p:nvPr/>
        </p:nvSpPr>
        <p:spPr>
          <a:xfrm>
            <a:off x="824890" y="1976676"/>
            <a:ext cx="2650219" cy="276999"/>
          </a:xfrm>
          <a:prstGeom prst="rect">
            <a:avLst/>
          </a:prstGeom>
          <a:noFill/>
        </p:spPr>
        <p:txBody>
          <a:bodyPr wrap="square" rtlCol="0">
            <a:spAutoFit/>
          </a:bodyPr>
          <a:lstStyle/>
          <a:p>
            <a:r>
              <a:rPr lang="en-US" sz="1200" dirty="0"/>
              <a:t>Residuals vs. Owned Status</a:t>
            </a:r>
          </a:p>
        </p:txBody>
      </p:sp>
      <p:sp>
        <p:nvSpPr>
          <p:cNvPr id="29" name="TextBox 28">
            <a:extLst>
              <a:ext uri="{FF2B5EF4-FFF2-40B4-BE49-F238E27FC236}">
                <a16:creationId xmlns:a16="http://schemas.microsoft.com/office/drawing/2014/main" id="{98CC826F-0AC8-855A-8ED3-B590F9C75334}"/>
              </a:ext>
            </a:extLst>
          </p:cNvPr>
          <p:cNvSpPr txBox="1"/>
          <p:nvPr/>
        </p:nvSpPr>
        <p:spPr>
          <a:xfrm>
            <a:off x="4561671" y="1976676"/>
            <a:ext cx="2572079" cy="276999"/>
          </a:xfrm>
          <a:prstGeom prst="rect">
            <a:avLst/>
          </a:prstGeom>
          <a:noFill/>
        </p:spPr>
        <p:txBody>
          <a:bodyPr wrap="square" rtlCol="0">
            <a:spAutoFit/>
          </a:bodyPr>
          <a:lstStyle/>
          <a:p>
            <a:r>
              <a:rPr lang="en-US" sz="1200" dirty="0"/>
              <a:t>vs. number of household dogs</a:t>
            </a:r>
          </a:p>
        </p:txBody>
      </p:sp>
      <p:sp>
        <p:nvSpPr>
          <p:cNvPr id="30" name="TextBox 29">
            <a:extLst>
              <a:ext uri="{FF2B5EF4-FFF2-40B4-BE49-F238E27FC236}">
                <a16:creationId xmlns:a16="http://schemas.microsoft.com/office/drawing/2014/main" id="{1F21FAEC-C3EA-256A-E79F-27C1C2465A98}"/>
              </a:ext>
            </a:extLst>
          </p:cNvPr>
          <p:cNvSpPr txBox="1"/>
          <p:nvPr/>
        </p:nvSpPr>
        <p:spPr>
          <a:xfrm>
            <a:off x="2491077" y="4338540"/>
            <a:ext cx="2572079" cy="276999"/>
          </a:xfrm>
          <a:prstGeom prst="rect">
            <a:avLst/>
          </a:prstGeom>
          <a:noFill/>
        </p:spPr>
        <p:txBody>
          <a:bodyPr wrap="square" rtlCol="0">
            <a:spAutoFit/>
          </a:bodyPr>
          <a:lstStyle/>
          <a:p>
            <a:r>
              <a:rPr lang="en-US" sz="1200" dirty="0"/>
              <a:t>vs. pure bred</a:t>
            </a:r>
          </a:p>
        </p:txBody>
      </p:sp>
      <p:sp>
        <p:nvSpPr>
          <p:cNvPr id="31" name="TextBox 30">
            <a:extLst>
              <a:ext uri="{FF2B5EF4-FFF2-40B4-BE49-F238E27FC236}">
                <a16:creationId xmlns:a16="http://schemas.microsoft.com/office/drawing/2014/main" id="{E3368251-C836-FB63-8E09-69F3D1078156}"/>
              </a:ext>
            </a:extLst>
          </p:cNvPr>
          <p:cNvSpPr txBox="1"/>
          <p:nvPr/>
        </p:nvSpPr>
        <p:spPr>
          <a:xfrm>
            <a:off x="7223451" y="4282023"/>
            <a:ext cx="2572079" cy="276999"/>
          </a:xfrm>
          <a:prstGeom prst="rect">
            <a:avLst/>
          </a:prstGeom>
          <a:noFill/>
        </p:spPr>
        <p:txBody>
          <a:bodyPr wrap="square" rtlCol="0">
            <a:spAutoFit/>
          </a:bodyPr>
          <a:lstStyle/>
          <a:p>
            <a:r>
              <a:rPr lang="en-US" sz="1200" dirty="0"/>
              <a:t>vs. origin</a:t>
            </a:r>
          </a:p>
        </p:txBody>
      </p:sp>
      <p:sp>
        <p:nvSpPr>
          <p:cNvPr id="33" name="Title 1">
            <a:extLst>
              <a:ext uri="{FF2B5EF4-FFF2-40B4-BE49-F238E27FC236}">
                <a16:creationId xmlns:a16="http://schemas.microsoft.com/office/drawing/2014/main" id="{9CFE0CF6-C4B9-DAD2-BDFF-72756716DBD6}"/>
              </a:ext>
            </a:extLst>
          </p:cNvPr>
          <p:cNvSpPr>
            <a:spLocks noGrp="1"/>
          </p:cNvSpPr>
          <p:nvPr>
            <p:ph type="title"/>
          </p:nvPr>
        </p:nvSpPr>
        <p:spPr>
          <a:xfrm>
            <a:off x="581192" y="702156"/>
            <a:ext cx="11029616" cy="1013800"/>
          </a:xfrm>
        </p:spPr>
        <p:txBody>
          <a:bodyPr/>
          <a:lstStyle/>
          <a:p>
            <a:r>
              <a:rPr lang="en-US" dirty="0"/>
              <a:t>Statistical outputs – checking assumptions</a:t>
            </a:r>
          </a:p>
        </p:txBody>
      </p:sp>
      <p:pic>
        <p:nvPicPr>
          <p:cNvPr id="3" name="Picture 2" descr="A graph with black dots and a blue line&#10;&#10;AI-generated content may be incorrect.">
            <a:extLst>
              <a:ext uri="{FF2B5EF4-FFF2-40B4-BE49-F238E27FC236}">
                <a16:creationId xmlns:a16="http://schemas.microsoft.com/office/drawing/2014/main" id="{5994EC4E-A10C-5E7F-ACB6-A6A589E66FFA}"/>
              </a:ext>
            </a:extLst>
          </p:cNvPr>
          <p:cNvPicPr>
            <a:picLocks noChangeAspect="1"/>
          </p:cNvPicPr>
          <p:nvPr/>
        </p:nvPicPr>
        <p:blipFill>
          <a:blip r:embed="rId7"/>
          <a:stretch>
            <a:fillRect/>
          </a:stretch>
        </p:blipFill>
        <p:spPr>
          <a:xfrm>
            <a:off x="8394891" y="2291309"/>
            <a:ext cx="3027827" cy="1844684"/>
          </a:xfrm>
          <a:prstGeom prst="rect">
            <a:avLst/>
          </a:prstGeom>
        </p:spPr>
      </p:pic>
      <p:sp>
        <p:nvSpPr>
          <p:cNvPr id="4" name="TextBox 3">
            <a:extLst>
              <a:ext uri="{FF2B5EF4-FFF2-40B4-BE49-F238E27FC236}">
                <a16:creationId xmlns:a16="http://schemas.microsoft.com/office/drawing/2014/main" id="{F5A9002F-5889-CCD0-6E60-E46CF2FC007C}"/>
              </a:ext>
            </a:extLst>
          </p:cNvPr>
          <p:cNvSpPr txBox="1"/>
          <p:nvPr/>
        </p:nvSpPr>
        <p:spPr>
          <a:xfrm>
            <a:off x="8606774" y="1976676"/>
            <a:ext cx="2572079" cy="276999"/>
          </a:xfrm>
          <a:prstGeom prst="rect">
            <a:avLst/>
          </a:prstGeom>
          <a:noFill/>
        </p:spPr>
        <p:txBody>
          <a:bodyPr wrap="square" rtlCol="0">
            <a:spAutoFit/>
          </a:bodyPr>
          <a:lstStyle/>
          <a:p>
            <a:r>
              <a:rPr lang="en-US" sz="1200" dirty="0"/>
              <a:t>vs. age</a:t>
            </a:r>
          </a:p>
        </p:txBody>
      </p:sp>
    </p:spTree>
    <p:extLst>
      <p:ext uri="{BB962C8B-B14F-4D97-AF65-F5344CB8AC3E}">
        <p14:creationId xmlns:p14="http://schemas.microsoft.com/office/powerpoint/2010/main" val="3326435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AE8E3-AAB7-5662-8FCE-84F40033C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1A18E-488D-F23C-544D-A66693369154}"/>
              </a:ext>
            </a:extLst>
          </p:cNvPr>
          <p:cNvSpPr>
            <a:spLocks noGrp="1"/>
          </p:cNvSpPr>
          <p:nvPr>
            <p:ph type="title"/>
          </p:nvPr>
        </p:nvSpPr>
        <p:spPr/>
        <p:txBody>
          <a:bodyPr/>
          <a:lstStyle/>
          <a:p>
            <a:r>
              <a:rPr lang="en-US" dirty="0"/>
              <a:t>Statistical outputs – ANOVA Tables</a:t>
            </a:r>
          </a:p>
        </p:txBody>
      </p:sp>
      <p:sp>
        <p:nvSpPr>
          <p:cNvPr id="4" name="Rectangle 3">
            <a:extLst>
              <a:ext uri="{FF2B5EF4-FFF2-40B4-BE49-F238E27FC236}">
                <a16:creationId xmlns:a16="http://schemas.microsoft.com/office/drawing/2014/main" id="{C692A814-F1C4-9CB1-6FA1-CB07D19CE70B}"/>
              </a:ext>
            </a:extLst>
          </p:cNvPr>
          <p:cNvSpPr/>
          <p:nvPr/>
        </p:nvSpPr>
        <p:spPr>
          <a:xfrm>
            <a:off x="8038168" y="457720"/>
            <a:ext cx="3713357" cy="807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9E0EAC-CB3D-F0A3-D79A-18B1C2502BE6}"/>
              </a:ext>
            </a:extLst>
          </p:cNvPr>
          <p:cNvSpPr/>
          <p:nvPr/>
        </p:nvSpPr>
        <p:spPr>
          <a:xfrm>
            <a:off x="440475" y="456937"/>
            <a:ext cx="3713357" cy="914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7AA3693-EC76-7F72-8AA0-ED3382C5EDFE}"/>
              </a:ext>
            </a:extLst>
          </p:cNvPr>
          <p:cNvSpPr txBox="1"/>
          <p:nvPr/>
        </p:nvSpPr>
        <p:spPr>
          <a:xfrm>
            <a:off x="4276496" y="2089852"/>
            <a:ext cx="4689086" cy="3582391"/>
          </a:xfrm>
          <a:prstGeom prst="rect">
            <a:avLst/>
          </a:prstGeom>
          <a:noFill/>
        </p:spPr>
        <p:txBody>
          <a:bodyPr wrap="square">
            <a:spAutoFit/>
          </a:bodyPr>
          <a:lstStyle/>
          <a:p>
            <a:pPr algn="l">
              <a:lnSpc>
                <a:spcPts val="1305"/>
              </a:lnSpc>
              <a:buNone/>
            </a:pPr>
            <a:r>
              <a:rPr lang="en-US" sz="1000" b="0" i="0" dirty="0">
                <a:solidFill>
                  <a:srgbClr val="000000"/>
                </a:solidFill>
                <a:effectLst/>
                <a:latin typeface="Monaco" pitchFamily="2" charset="77"/>
              </a:rPr>
              <a:t> </a:t>
            </a:r>
            <a:r>
              <a:rPr lang="en-US" sz="1000" b="0" i="0" dirty="0" err="1">
                <a:solidFill>
                  <a:srgbClr val="000000"/>
                </a:solidFill>
                <a:effectLst/>
                <a:latin typeface="Monaco" pitchFamily="2" charset="77"/>
              </a:rPr>
              <a:t>Df</a:t>
            </a:r>
            <a:r>
              <a:rPr lang="en-US" sz="1000" b="0" i="0" dirty="0">
                <a:solidFill>
                  <a:srgbClr val="000000"/>
                </a:solidFill>
                <a:effectLst/>
                <a:latin typeface="Monaco" pitchFamily="2" charset="77"/>
              </a:rPr>
              <a:t> Sum Sq Mean Sq F value </a:t>
            </a:r>
            <a:r>
              <a:rPr lang="en-US" sz="1000" b="0" i="0" dirty="0" err="1">
                <a:solidFill>
                  <a:srgbClr val="000000"/>
                </a:solidFill>
                <a:effectLst/>
                <a:latin typeface="Monaco" pitchFamily="2" charset="77"/>
              </a:rPr>
              <a:t>Pr</a:t>
            </a:r>
            <a:r>
              <a:rPr lang="en-US" sz="1000" b="0" i="0" dirty="0">
                <a:solidFill>
                  <a:srgbClr val="000000"/>
                </a:solidFill>
                <a:effectLst/>
                <a:latin typeface="Monaco" pitchFamily="2" charset="77"/>
              </a:rPr>
              <a:t>(&gt;F)  </a:t>
            </a:r>
          </a:p>
          <a:p>
            <a:pPr algn="l">
              <a:lnSpc>
                <a:spcPts val="1305"/>
              </a:lnSpc>
              <a:buNone/>
            </a:pPr>
            <a:r>
              <a:rPr lang="en-US" sz="1000" b="0" i="0" dirty="0" err="1">
                <a:solidFill>
                  <a:srgbClr val="000000"/>
                </a:solidFill>
                <a:effectLst/>
                <a:latin typeface="Monaco" pitchFamily="2" charset="77"/>
              </a:rPr>
              <a:t>num_household_dogs</a:t>
            </a:r>
            <a:r>
              <a:rPr lang="en-US" sz="1000" b="0" i="0" dirty="0">
                <a:solidFill>
                  <a:srgbClr val="000000"/>
                </a:solidFill>
                <a:effectLst/>
                <a:latin typeface="Monaco" pitchFamily="2" charset="77"/>
              </a:rPr>
              <a:t>   4    950   237.4   2.187 0.0745 .</a:t>
            </a:r>
          </a:p>
          <a:p>
            <a:pPr algn="l">
              <a:lnSpc>
                <a:spcPts val="1305"/>
              </a:lnSpc>
              <a:buNone/>
            </a:pPr>
            <a:r>
              <a:rPr lang="en-US" sz="1000" b="0" i="0" dirty="0">
                <a:solidFill>
                  <a:srgbClr val="000000"/>
                </a:solidFill>
                <a:effectLst/>
                <a:latin typeface="Monaco" pitchFamily="2" charset="77"/>
              </a:rPr>
              <a:t>Residuals          118  12808   108.5   </a:t>
            </a:r>
          </a:p>
          <a:p>
            <a:pPr algn="l">
              <a:lnSpc>
                <a:spcPts val="1305"/>
              </a:lnSpc>
              <a:buNone/>
            </a:pPr>
            <a:r>
              <a:rPr lang="en-US" sz="1000" b="0" i="0" dirty="0">
                <a:solidFill>
                  <a:srgbClr val="000000"/>
                </a:solidFill>
                <a:effectLst/>
                <a:latin typeface="Monaco" pitchFamily="2" charset="77"/>
              </a:rPr>
              <a:t>              </a:t>
            </a:r>
          </a:p>
          <a:p>
            <a:pPr algn="l">
              <a:lnSpc>
                <a:spcPts val="1305"/>
              </a:lnSpc>
              <a:buNone/>
            </a:pPr>
            <a:endParaRPr lang="en-US" sz="1000" b="0" i="0" dirty="0">
              <a:solidFill>
                <a:srgbClr val="000000"/>
              </a:solidFill>
              <a:effectLst/>
              <a:latin typeface="Monaco" pitchFamily="2" charset="77"/>
            </a:endParaRPr>
          </a:p>
          <a:p>
            <a:pPr algn="l">
              <a:lnSpc>
                <a:spcPts val="1305"/>
              </a:lnSpc>
              <a:buNone/>
            </a:pPr>
            <a:endParaRPr lang="en-US" sz="1000" b="0" i="0" dirty="0">
              <a:solidFill>
                <a:srgbClr val="000000"/>
              </a:solidFill>
              <a:effectLst/>
              <a:latin typeface="Monaco" pitchFamily="2" charset="77"/>
            </a:endParaRPr>
          </a:p>
          <a:p>
            <a:pPr algn="l">
              <a:lnSpc>
                <a:spcPts val="1305"/>
              </a:lnSpc>
              <a:buNone/>
            </a:pPr>
            <a:r>
              <a:rPr lang="en-US" sz="1000" b="0" i="0" dirty="0" err="1">
                <a:solidFill>
                  <a:srgbClr val="000000"/>
                </a:solidFill>
                <a:effectLst/>
                <a:latin typeface="Monaco" pitchFamily="2" charset="77"/>
              </a:rPr>
              <a:t>Df</a:t>
            </a:r>
            <a:r>
              <a:rPr lang="en-US" sz="1000" b="0" i="0" dirty="0">
                <a:solidFill>
                  <a:srgbClr val="000000"/>
                </a:solidFill>
                <a:effectLst/>
                <a:latin typeface="Monaco" pitchFamily="2" charset="77"/>
              </a:rPr>
              <a:t> Sum Sq Mean Sq F value   </a:t>
            </a:r>
            <a:r>
              <a:rPr lang="en-US" sz="1000" b="0" i="0" dirty="0" err="1">
                <a:solidFill>
                  <a:srgbClr val="000000"/>
                </a:solidFill>
                <a:effectLst/>
                <a:latin typeface="Monaco" pitchFamily="2" charset="77"/>
              </a:rPr>
              <a:t>Pr</a:t>
            </a:r>
            <a:r>
              <a:rPr lang="en-US" sz="1000" b="0" i="0" dirty="0">
                <a:solidFill>
                  <a:srgbClr val="000000"/>
                </a:solidFill>
                <a:effectLst/>
                <a:latin typeface="Monaco" pitchFamily="2" charset="77"/>
              </a:rPr>
              <a:t>(&gt;F)    </a:t>
            </a:r>
          </a:p>
          <a:p>
            <a:pPr algn="l">
              <a:lnSpc>
                <a:spcPts val="1305"/>
              </a:lnSpc>
              <a:buNone/>
            </a:pPr>
            <a:r>
              <a:rPr lang="en-US" sz="1000" b="0" i="0" dirty="0" err="1">
                <a:solidFill>
                  <a:srgbClr val="000000"/>
                </a:solidFill>
                <a:effectLst/>
                <a:latin typeface="Monaco" pitchFamily="2" charset="77"/>
              </a:rPr>
              <a:t>owned_status</a:t>
            </a:r>
            <a:r>
              <a:rPr lang="en-US" sz="1000" b="0" i="0" dirty="0">
                <a:solidFill>
                  <a:srgbClr val="000000"/>
                </a:solidFill>
                <a:effectLst/>
                <a:latin typeface="Monaco" pitchFamily="2" charset="77"/>
              </a:rPr>
              <a:t>   1   1742  1741.9   18.82 2.59e-05 ***</a:t>
            </a:r>
          </a:p>
          <a:p>
            <a:pPr algn="l">
              <a:lnSpc>
                <a:spcPts val="1305"/>
              </a:lnSpc>
              <a:buNone/>
            </a:pPr>
            <a:r>
              <a:rPr lang="en-US" sz="1000" b="0" i="0" dirty="0">
                <a:solidFill>
                  <a:srgbClr val="000000"/>
                </a:solidFill>
                <a:effectLst/>
                <a:latin typeface="Monaco" pitchFamily="2" charset="77"/>
              </a:rPr>
              <a:t>Residuals    153  14157    92.5                     </a:t>
            </a:r>
          </a:p>
          <a:p>
            <a:pPr algn="l">
              <a:lnSpc>
                <a:spcPts val="1305"/>
              </a:lnSpc>
              <a:buNone/>
            </a:pPr>
            <a:endParaRPr lang="en-US" sz="1000" b="0" i="0" dirty="0">
              <a:solidFill>
                <a:srgbClr val="000000"/>
              </a:solidFill>
              <a:effectLst/>
              <a:latin typeface="Monaco" pitchFamily="2" charset="77"/>
            </a:endParaRPr>
          </a:p>
          <a:p>
            <a:pPr algn="l">
              <a:lnSpc>
                <a:spcPts val="1305"/>
              </a:lnSpc>
              <a:buNone/>
            </a:pPr>
            <a:endParaRPr lang="en-US" sz="1000" b="0" i="0" dirty="0">
              <a:solidFill>
                <a:srgbClr val="000000"/>
              </a:solidFill>
              <a:effectLst/>
              <a:latin typeface="Monaco" pitchFamily="2" charset="77"/>
            </a:endParaRPr>
          </a:p>
          <a:p>
            <a:pPr algn="l">
              <a:lnSpc>
                <a:spcPts val="1305"/>
              </a:lnSpc>
              <a:buNone/>
            </a:pPr>
            <a:endParaRPr lang="en-US" sz="1000" dirty="0">
              <a:solidFill>
                <a:srgbClr val="000000"/>
              </a:solidFill>
              <a:latin typeface="Monaco" pitchFamily="2" charset="77"/>
            </a:endParaRPr>
          </a:p>
          <a:p>
            <a:pPr algn="l">
              <a:lnSpc>
                <a:spcPts val="1305"/>
              </a:lnSpc>
              <a:buNone/>
            </a:pPr>
            <a:r>
              <a:rPr lang="en-US" sz="1000" b="0" i="0" dirty="0" err="1">
                <a:solidFill>
                  <a:srgbClr val="000000"/>
                </a:solidFill>
                <a:effectLst/>
                <a:latin typeface="Monaco" pitchFamily="2" charset="77"/>
              </a:rPr>
              <a:t>Df</a:t>
            </a:r>
            <a:r>
              <a:rPr lang="en-US" sz="1000" b="0" i="0" dirty="0">
                <a:solidFill>
                  <a:srgbClr val="000000"/>
                </a:solidFill>
                <a:effectLst/>
                <a:latin typeface="Monaco" pitchFamily="2" charset="77"/>
              </a:rPr>
              <a:t> Sum Sq Mean Sq F value  </a:t>
            </a:r>
            <a:r>
              <a:rPr lang="en-US" sz="1000" b="0" i="0" dirty="0" err="1">
                <a:solidFill>
                  <a:srgbClr val="000000"/>
                </a:solidFill>
                <a:effectLst/>
                <a:latin typeface="Monaco" pitchFamily="2" charset="77"/>
              </a:rPr>
              <a:t>Pr</a:t>
            </a:r>
            <a:r>
              <a:rPr lang="en-US" sz="1000" b="0" i="0" dirty="0">
                <a:solidFill>
                  <a:srgbClr val="000000"/>
                </a:solidFill>
                <a:effectLst/>
                <a:latin typeface="Monaco" pitchFamily="2" charset="77"/>
              </a:rPr>
              <a:t>(&gt;F)   </a:t>
            </a:r>
          </a:p>
          <a:p>
            <a:pPr algn="l">
              <a:lnSpc>
                <a:spcPts val="1305"/>
              </a:lnSpc>
              <a:buNone/>
            </a:pPr>
            <a:r>
              <a:rPr lang="en-US" sz="1000" b="0" i="0" dirty="0">
                <a:solidFill>
                  <a:srgbClr val="000000"/>
                </a:solidFill>
                <a:effectLst/>
                <a:latin typeface="Monaco" pitchFamily="2" charset="77"/>
              </a:rPr>
              <a:t>origin        4   1809   452.1   4.813 0.00111 **</a:t>
            </a:r>
          </a:p>
          <a:p>
            <a:pPr algn="l">
              <a:lnSpc>
                <a:spcPts val="1305"/>
              </a:lnSpc>
              <a:buNone/>
            </a:pPr>
            <a:r>
              <a:rPr lang="en-US" sz="1000" b="0" i="0" dirty="0">
                <a:solidFill>
                  <a:srgbClr val="000000"/>
                </a:solidFill>
                <a:effectLst/>
                <a:latin typeface="Monaco" pitchFamily="2" charset="77"/>
              </a:rPr>
              <a:t>Residuals   150  14091    93.9                   </a:t>
            </a:r>
          </a:p>
          <a:p>
            <a:pPr algn="l">
              <a:lnSpc>
                <a:spcPts val="1305"/>
              </a:lnSpc>
              <a:buNone/>
            </a:pPr>
            <a:endParaRPr lang="en-US" sz="1000" b="0" i="0" dirty="0">
              <a:solidFill>
                <a:srgbClr val="000000"/>
              </a:solidFill>
              <a:effectLst/>
              <a:latin typeface="Monaco" pitchFamily="2" charset="77"/>
            </a:endParaRPr>
          </a:p>
          <a:p>
            <a:pPr algn="l">
              <a:lnSpc>
                <a:spcPts val="1305"/>
              </a:lnSpc>
              <a:buNone/>
            </a:pPr>
            <a:endParaRPr lang="en-US" sz="1000" b="0" i="0" dirty="0">
              <a:solidFill>
                <a:srgbClr val="000000"/>
              </a:solidFill>
              <a:effectLst/>
              <a:latin typeface="Monaco" pitchFamily="2" charset="77"/>
            </a:endParaRPr>
          </a:p>
          <a:p>
            <a:pPr algn="l">
              <a:lnSpc>
                <a:spcPts val="1305"/>
              </a:lnSpc>
              <a:buNone/>
            </a:pPr>
            <a:endParaRPr lang="en-US" sz="1000" b="0" i="0" dirty="0">
              <a:solidFill>
                <a:srgbClr val="000000"/>
              </a:solidFill>
              <a:effectLst/>
              <a:latin typeface="Monaco" pitchFamily="2" charset="77"/>
            </a:endParaRPr>
          </a:p>
          <a:p>
            <a:pPr algn="l">
              <a:lnSpc>
                <a:spcPts val="1305"/>
              </a:lnSpc>
              <a:buNone/>
            </a:pPr>
            <a:r>
              <a:rPr lang="en-US" sz="1000" b="0" i="0" dirty="0" err="1">
                <a:solidFill>
                  <a:srgbClr val="000000"/>
                </a:solidFill>
                <a:effectLst/>
                <a:latin typeface="Monaco" pitchFamily="2" charset="77"/>
              </a:rPr>
              <a:t>Df</a:t>
            </a:r>
            <a:r>
              <a:rPr lang="en-US" sz="1000" b="0" i="0" dirty="0">
                <a:solidFill>
                  <a:srgbClr val="000000"/>
                </a:solidFill>
                <a:effectLst/>
                <a:latin typeface="Monaco" pitchFamily="2" charset="77"/>
              </a:rPr>
              <a:t> Sum Sq Mean Sq F value </a:t>
            </a:r>
            <a:r>
              <a:rPr lang="en-US" sz="1000" b="0" i="0" dirty="0" err="1">
                <a:solidFill>
                  <a:srgbClr val="000000"/>
                </a:solidFill>
                <a:effectLst/>
                <a:latin typeface="Monaco" pitchFamily="2" charset="77"/>
              </a:rPr>
              <a:t>Pr</a:t>
            </a:r>
            <a:r>
              <a:rPr lang="en-US" sz="1000" b="0" i="0" dirty="0">
                <a:solidFill>
                  <a:srgbClr val="000000"/>
                </a:solidFill>
                <a:effectLst/>
                <a:latin typeface="Monaco" pitchFamily="2" charset="77"/>
              </a:rPr>
              <a:t>(&gt;F)  </a:t>
            </a:r>
          </a:p>
          <a:p>
            <a:pPr algn="l">
              <a:lnSpc>
                <a:spcPts val="1305"/>
              </a:lnSpc>
              <a:buNone/>
            </a:pPr>
            <a:r>
              <a:rPr lang="en-US" sz="1000" b="0" i="0" dirty="0">
                <a:solidFill>
                  <a:srgbClr val="000000"/>
                </a:solidFill>
                <a:effectLst/>
                <a:latin typeface="Monaco" pitchFamily="2" charset="77"/>
              </a:rPr>
              <a:t>age           1    509   509.3   4.982 0.0271 *</a:t>
            </a:r>
          </a:p>
          <a:p>
            <a:pPr algn="l">
              <a:lnSpc>
                <a:spcPts val="1305"/>
              </a:lnSpc>
              <a:buNone/>
            </a:pPr>
            <a:r>
              <a:rPr lang="en-US" sz="1000" b="0" i="0" dirty="0">
                <a:solidFill>
                  <a:srgbClr val="000000"/>
                </a:solidFill>
                <a:effectLst/>
                <a:latin typeface="Monaco" pitchFamily="2" charset="77"/>
              </a:rPr>
              <a:t>Residuals   148  15130   102.2                 </a:t>
            </a:r>
          </a:p>
        </p:txBody>
      </p:sp>
      <p:sp>
        <p:nvSpPr>
          <p:cNvPr id="7" name="TextBox 6">
            <a:extLst>
              <a:ext uri="{FF2B5EF4-FFF2-40B4-BE49-F238E27FC236}">
                <a16:creationId xmlns:a16="http://schemas.microsoft.com/office/drawing/2014/main" id="{3556E80A-C90E-AC47-2C59-B9B873E5F66B}"/>
              </a:ext>
            </a:extLst>
          </p:cNvPr>
          <p:cNvSpPr txBox="1"/>
          <p:nvPr/>
        </p:nvSpPr>
        <p:spPr>
          <a:xfrm>
            <a:off x="559423" y="2129883"/>
            <a:ext cx="3334215" cy="4524315"/>
          </a:xfrm>
          <a:prstGeom prst="rect">
            <a:avLst/>
          </a:prstGeom>
          <a:noFill/>
        </p:spPr>
        <p:txBody>
          <a:bodyPr wrap="square" rtlCol="0">
            <a:spAutoFit/>
          </a:bodyPr>
          <a:lstStyle/>
          <a:p>
            <a:pPr marL="285750" indent="-285750">
              <a:buFont typeface="Arial" panose="020B0604020202020204" pitchFamily="34" charset="0"/>
              <a:buChar char="•"/>
            </a:pPr>
            <a:r>
              <a:rPr lang="en-US" dirty="0"/>
              <a:t>Null hypothesis that there are no significant difference in mean across groups.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Review of ANOVA tables showed as expected – Number of household dogs, owned status and origin had significant P values to reject the null hypothesis in favor of the alternative that at least one group mean differs.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Age was found to be significant which prompted for inclusion into regression.</a:t>
            </a:r>
          </a:p>
        </p:txBody>
      </p:sp>
      <p:sp>
        <p:nvSpPr>
          <p:cNvPr id="8" name="Rounded Rectangle 7">
            <a:extLst>
              <a:ext uri="{FF2B5EF4-FFF2-40B4-BE49-F238E27FC236}">
                <a16:creationId xmlns:a16="http://schemas.microsoft.com/office/drawing/2014/main" id="{59CA63B9-52EE-920E-2412-33B54A4BB3BE}"/>
              </a:ext>
            </a:extLst>
          </p:cNvPr>
          <p:cNvSpPr/>
          <p:nvPr/>
        </p:nvSpPr>
        <p:spPr>
          <a:xfrm>
            <a:off x="4153832" y="1867386"/>
            <a:ext cx="5079378" cy="869795"/>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Number of household dogs</a:t>
            </a:r>
          </a:p>
        </p:txBody>
      </p:sp>
      <p:sp>
        <p:nvSpPr>
          <p:cNvPr id="10" name="Rounded Rectangle 9">
            <a:extLst>
              <a:ext uri="{FF2B5EF4-FFF2-40B4-BE49-F238E27FC236}">
                <a16:creationId xmlns:a16="http://schemas.microsoft.com/office/drawing/2014/main" id="{E31ACAF5-B08E-A6D2-1102-751991D03189}"/>
              </a:ext>
            </a:extLst>
          </p:cNvPr>
          <p:cNvSpPr/>
          <p:nvPr/>
        </p:nvSpPr>
        <p:spPr>
          <a:xfrm>
            <a:off x="4153832" y="4750230"/>
            <a:ext cx="5079378" cy="869795"/>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Age</a:t>
            </a:r>
          </a:p>
        </p:txBody>
      </p:sp>
      <p:sp>
        <p:nvSpPr>
          <p:cNvPr id="17" name="Rounded Rectangle 16">
            <a:extLst>
              <a:ext uri="{FF2B5EF4-FFF2-40B4-BE49-F238E27FC236}">
                <a16:creationId xmlns:a16="http://schemas.microsoft.com/office/drawing/2014/main" id="{1783C687-E235-529B-613E-2AFEE337251A}"/>
              </a:ext>
            </a:extLst>
          </p:cNvPr>
          <p:cNvSpPr/>
          <p:nvPr/>
        </p:nvSpPr>
        <p:spPr>
          <a:xfrm>
            <a:off x="4153832" y="3797691"/>
            <a:ext cx="5079378" cy="869795"/>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Origin</a:t>
            </a:r>
          </a:p>
        </p:txBody>
      </p:sp>
      <p:sp>
        <p:nvSpPr>
          <p:cNvPr id="19" name="Rounded Rectangle 18">
            <a:extLst>
              <a:ext uri="{FF2B5EF4-FFF2-40B4-BE49-F238E27FC236}">
                <a16:creationId xmlns:a16="http://schemas.microsoft.com/office/drawing/2014/main" id="{34D35735-2C12-D3D2-7368-9ADC2BECEC81}"/>
              </a:ext>
            </a:extLst>
          </p:cNvPr>
          <p:cNvSpPr/>
          <p:nvPr/>
        </p:nvSpPr>
        <p:spPr>
          <a:xfrm>
            <a:off x="4161266" y="2833410"/>
            <a:ext cx="5079378" cy="869795"/>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Owned Status</a:t>
            </a:r>
          </a:p>
        </p:txBody>
      </p:sp>
      <p:sp>
        <p:nvSpPr>
          <p:cNvPr id="9" name="TextBox 8">
            <a:extLst>
              <a:ext uri="{FF2B5EF4-FFF2-40B4-BE49-F238E27FC236}">
                <a16:creationId xmlns:a16="http://schemas.microsoft.com/office/drawing/2014/main" id="{C782BC25-9BA6-A5F6-DEE1-9DA345503F0A}"/>
              </a:ext>
            </a:extLst>
          </p:cNvPr>
          <p:cNvSpPr txBox="1"/>
          <p:nvPr/>
        </p:nvSpPr>
        <p:spPr>
          <a:xfrm>
            <a:off x="4240916" y="5981997"/>
            <a:ext cx="6096000" cy="581506"/>
          </a:xfrm>
          <a:prstGeom prst="rect">
            <a:avLst/>
          </a:prstGeom>
          <a:noFill/>
        </p:spPr>
        <p:txBody>
          <a:bodyPr wrap="square">
            <a:spAutoFit/>
          </a:bodyPr>
          <a:lstStyle/>
          <a:p>
            <a:pPr algn="l">
              <a:lnSpc>
                <a:spcPts val="1305"/>
              </a:lnSpc>
              <a:buNone/>
            </a:pPr>
            <a:r>
              <a:rPr lang="en-US" sz="1000" b="0" i="0" dirty="0">
                <a:solidFill>
                  <a:srgbClr val="000000"/>
                </a:solidFill>
                <a:effectLst/>
                <a:latin typeface="Monaco" pitchFamily="2" charset="77"/>
              </a:rPr>
              <a:t> </a:t>
            </a:r>
            <a:r>
              <a:rPr lang="en-US" sz="1000" b="0" i="0" dirty="0" err="1">
                <a:solidFill>
                  <a:srgbClr val="000000"/>
                </a:solidFill>
                <a:effectLst/>
                <a:latin typeface="Monaco" pitchFamily="2" charset="77"/>
              </a:rPr>
              <a:t>Df</a:t>
            </a:r>
            <a:r>
              <a:rPr lang="en-US" sz="1000" b="0" i="0" dirty="0">
                <a:solidFill>
                  <a:srgbClr val="000000"/>
                </a:solidFill>
                <a:effectLst/>
                <a:latin typeface="Monaco" pitchFamily="2" charset="77"/>
              </a:rPr>
              <a:t> Sum Sq Mean Sq F value </a:t>
            </a:r>
            <a:r>
              <a:rPr lang="en-US" sz="1000" b="0" i="0" dirty="0" err="1">
                <a:solidFill>
                  <a:srgbClr val="000000"/>
                </a:solidFill>
                <a:effectLst/>
                <a:latin typeface="Monaco" pitchFamily="2" charset="77"/>
              </a:rPr>
              <a:t>Pr</a:t>
            </a:r>
            <a:r>
              <a:rPr lang="en-US" sz="1000" b="0" i="0" dirty="0">
                <a:solidFill>
                  <a:srgbClr val="000000"/>
                </a:solidFill>
                <a:effectLst/>
                <a:latin typeface="Monaco" pitchFamily="2" charset="77"/>
              </a:rPr>
              <a:t>(&gt;F)</a:t>
            </a:r>
          </a:p>
          <a:p>
            <a:pPr algn="l">
              <a:lnSpc>
                <a:spcPts val="1305"/>
              </a:lnSpc>
              <a:buNone/>
            </a:pPr>
            <a:r>
              <a:rPr lang="en-US" sz="1000" b="0" i="0" dirty="0">
                <a:solidFill>
                  <a:srgbClr val="000000"/>
                </a:solidFill>
                <a:effectLst/>
                <a:latin typeface="Monaco" pitchFamily="2" charset="77"/>
              </a:rPr>
              <a:t>purebred      1     40   40.14   0.387  0.535</a:t>
            </a:r>
          </a:p>
          <a:p>
            <a:pPr algn="l">
              <a:lnSpc>
                <a:spcPts val="1305"/>
              </a:lnSpc>
              <a:buNone/>
            </a:pPr>
            <a:r>
              <a:rPr lang="en-US" sz="1000" b="0" i="0" dirty="0">
                <a:solidFill>
                  <a:srgbClr val="000000"/>
                </a:solidFill>
                <a:effectLst/>
                <a:latin typeface="Monaco" pitchFamily="2" charset="77"/>
              </a:rPr>
              <a:t>Residuals   153  15859  103.65               </a:t>
            </a:r>
            <a:endParaRPr lang="en-US" sz="1000" dirty="0"/>
          </a:p>
        </p:txBody>
      </p:sp>
      <p:sp>
        <p:nvSpPr>
          <p:cNvPr id="11" name="Rounded Rectangle 10">
            <a:extLst>
              <a:ext uri="{FF2B5EF4-FFF2-40B4-BE49-F238E27FC236}">
                <a16:creationId xmlns:a16="http://schemas.microsoft.com/office/drawing/2014/main" id="{A210D104-986E-BC85-E459-1BAEF1D0B51C}"/>
              </a:ext>
            </a:extLst>
          </p:cNvPr>
          <p:cNvSpPr/>
          <p:nvPr/>
        </p:nvSpPr>
        <p:spPr>
          <a:xfrm>
            <a:off x="4153832" y="5709273"/>
            <a:ext cx="5079378" cy="869795"/>
          </a:xfrm>
          <a:prstGeom prst="roundRect">
            <a:avLst/>
          </a:prstGeom>
          <a:solidFill>
            <a:schemeClr val="bg1">
              <a:lumMod val="75000"/>
              <a:alpha val="34801"/>
            </a:schemeClr>
          </a:solid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Purebred</a:t>
            </a:r>
          </a:p>
        </p:txBody>
      </p:sp>
    </p:spTree>
    <p:extLst>
      <p:ext uri="{BB962C8B-B14F-4D97-AF65-F5344CB8AC3E}">
        <p14:creationId xmlns:p14="http://schemas.microsoft.com/office/powerpoint/2010/main" val="1160886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0D241-AE7C-EC8C-A4AA-EF4D14429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C83C8-58AE-29C5-45EA-A966DA74F5BF}"/>
              </a:ext>
            </a:extLst>
          </p:cNvPr>
          <p:cNvSpPr>
            <a:spLocks noGrp="1"/>
          </p:cNvSpPr>
          <p:nvPr>
            <p:ph type="title"/>
          </p:nvPr>
        </p:nvSpPr>
        <p:spPr/>
        <p:txBody>
          <a:bodyPr/>
          <a:lstStyle/>
          <a:p>
            <a:r>
              <a:rPr lang="en-US" dirty="0"/>
              <a:t>Statistical outputs – ANOVA Tables</a:t>
            </a:r>
          </a:p>
        </p:txBody>
      </p:sp>
      <p:sp>
        <p:nvSpPr>
          <p:cNvPr id="4" name="Rectangle 3">
            <a:extLst>
              <a:ext uri="{FF2B5EF4-FFF2-40B4-BE49-F238E27FC236}">
                <a16:creationId xmlns:a16="http://schemas.microsoft.com/office/drawing/2014/main" id="{8CB1058A-E784-F238-1ABC-065974510CE7}"/>
              </a:ext>
            </a:extLst>
          </p:cNvPr>
          <p:cNvSpPr/>
          <p:nvPr/>
        </p:nvSpPr>
        <p:spPr>
          <a:xfrm>
            <a:off x="8038168" y="457720"/>
            <a:ext cx="3713357" cy="807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BC042D7-0751-F3E9-8C36-DF2B8BA4BF3A}"/>
              </a:ext>
            </a:extLst>
          </p:cNvPr>
          <p:cNvSpPr/>
          <p:nvPr/>
        </p:nvSpPr>
        <p:spPr>
          <a:xfrm>
            <a:off x="440475" y="456937"/>
            <a:ext cx="3713357" cy="914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CAB2566-8535-FBDA-8159-F7EB83F35200}"/>
              </a:ext>
            </a:extLst>
          </p:cNvPr>
          <p:cNvSpPr txBox="1"/>
          <p:nvPr/>
        </p:nvSpPr>
        <p:spPr>
          <a:xfrm>
            <a:off x="713678" y="2352907"/>
            <a:ext cx="2998287" cy="4247317"/>
          </a:xfrm>
          <a:prstGeom prst="rect">
            <a:avLst/>
          </a:prstGeom>
          <a:noFill/>
        </p:spPr>
        <p:txBody>
          <a:bodyPr wrap="square" rtlCol="0">
            <a:spAutoFit/>
          </a:bodyPr>
          <a:lstStyle/>
          <a:p>
            <a:pPr marL="285750" indent="-285750">
              <a:buFont typeface="Arial" panose="020B0604020202020204" pitchFamily="34" charset="0"/>
              <a:buChar char="•"/>
            </a:pPr>
            <a:r>
              <a:rPr lang="en-US" dirty="0"/>
              <a:t>Interestingly no interaction effects were found between variables</a:t>
            </a:r>
          </a:p>
          <a:p>
            <a:endParaRPr lang="en-US" dirty="0"/>
          </a:p>
          <a:p>
            <a:endParaRPr lang="en-US" dirty="0"/>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Accept null hypothesis there is no mean diff between urban, suburban and rural</a:t>
            </a:r>
          </a:p>
        </p:txBody>
      </p:sp>
      <p:sp>
        <p:nvSpPr>
          <p:cNvPr id="19" name="Rounded Rectangle 18">
            <a:extLst>
              <a:ext uri="{FF2B5EF4-FFF2-40B4-BE49-F238E27FC236}">
                <a16:creationId xmlns:a16="http://schemas.microsoft.com/office/drawing/2014/main" id="{A156F8B4-3206-73D6-0717-9205057C591C}"/>
              </a:ext>
            </a:extLst>
          </p:cNvPr>
          <p:cNvSpPr/>
          <p:nvPr/>
        </p:nvSpPr>
        <p:spPr>
          <a:xfrm>
            <a:off x="3711965" y="2383101"/>
            <a:ext cx="5989596" cy="1397162"/>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Environment &amp; household dogs</a:t>
            </a:r>
          </a:p>
        </p:txBody>
      </p:sp>
      <p:sp>
        <p:nvSpPr>
          <p:cNvPr id="9" name="TextBox 8">
            <a:extLst>
              <a:ext uri="{FF2B5EF4-FFF2-40B4-BE49-F238E27FC236}">
                <a16:creationId xmlns:a16="http://schemas.microsoft.com/office/drawing/2014/main" id="{7CA169D6-EEC0-A5F1-0414-E5977264B923}"/>
              </a:ext>
            </a:extLst>
          </p:cNvPr>
          <p:cNvSpPr txBox="1"/>
          <p:nvPr/>
        </p:nvSpPr>
        <p:spPr>
          <a:xfrm>
            <a:off x="3824869" y="2719755"/>
            <a:ext cx="6099716" cy="2583656"/>
          </a:xfrm>
          <a:prstGeom prst="rect">
            <a:avLst/>
          </a:prstGeom>
          <a:noFill/>
        </p:spPr>
        <p:txBody>
          <a:bodyPr wrap="square">
            <a:spAutoFit/>
          </a:bodyPr>
          <a:lstStyle/>
          <a:p>
            <a:pPr algn="l">
              <a:lnSpc>
                <a:spcPts val="1305"/>
              </a:lnSpc>
              <a:buNone/>
            </a:pPr>
            <a:r>
              <a:rPr lang="en-US" sz="1050" b="0" i="0" dirty="0" err="1">
                <a:solidFill>
                  <a:srgbClr val="000000"/>
                </a:solidFill>
                <a:effectLst/>
                <a:latin typeface="Monaco" pitchFamily="2" charset="77"/>
              </a:rPr>
              <a:t>Df</a:t>
            </a:r>
            <a:r>
              <a:rPr lang="en-US" sz="1050" b="0" i="0" dirty="0">
                <a:solidFill>
                  <a:srgbClr val="000000"/>
                </a:solidFill>
                <a:effectLst/>
                <a:latin typeface="Monaco" pitchFamily="2" charset="77"/>
              </a:rPr>
              <a:t> Sum Sq Mean Sq F value </a:t>
            </a:r>
            <a:r>
              <a:rPr lang="en-US" sz="1050" b="0" i="0" dirty="0" err="1">
                <a:solidFill>
                  <a:srgbClr val="000000"/>
                </a:solidFill>
                <a:effectLst/>
                <a:latin typeface="Monaco" pitchFamily="2" charset="77"/>
              </a:rPr>
              <a:t>Pr</a:t>
            </a:r>
            <a:r>
              <a:rPr lang="en-US" sz="1050" b="0" i="0" dirty="0">
                <a:solidFill>
                  <a:srgbClr val="000000"/>
                </a:solidFill>
                <a:effectLst/>
                <a:latin typeface="Monaco" pitchFamily="2" charset="77"/>
              </a:rPr>
              <a:t>(&gt;F)</a:t>
            </a:r>
          </a:p>
          <a:p>
            <a:pPr algn="l">
              <a:lnSpc>
                <a:spcPts val="1305"/>
              </a:lnSpc>
              <a:buNone/>
            </a:pPr>
            <a:r>
              <a:rPr lang="en-US" sz="1050" b="0" i="0" dirty="0">
                <a:solidFill>
                  <a:srgbClr val="000000"/>
                </a:solidFill>
                <a:effectLst/>
                <a:latin typeface="Monaco" pitchFamily="2" charset="77"/>
              </a:rPr>
              <a:t>environment                      2    165   82.44   0.743  0.478</a:t>
            </a:r>
          </a:p>
          <a:p>
            <a:pPr algn="l">
              <a:lnSpc>
                <a:spcPts val="1305"/>
              </a:lnSpc>
              <a:buNone/>
            </a:pPr>
            <a:r>
              <a:rPr lang="en-US" sz="1050" b="0" i="0" dirty="0" err="1">
                <a:solidFill>
                  <a:srgbClr val="000000"/>
                </a:solidFill>
                <a:effectLst/>
                <a:latin typeface="Monaco" pitchFamily="2" charset="77"/>
              </a:rPr>
              <a:t>num_household_dogs</a:t>
            </a:r>
            <a:r>
              <a:rPr lang="en-US" sz="1050" b="0" i="0" dirty="0">
                <a:solidFill>
                  <a:srgbClr val="000000"/>
                </a:solidFill>
                <a:effectLst/>
                <a:latin typeface="Monaco" pitchFamily="2" charset="77"/>
              </a:rPr>
              <a:t>               4    870  217.53   1.959  0.106</a:t>
            </a:r>
          </a:p>
          <a:p>
            <a:pPr algn="l">
              <a:lnSpc>
                <a:spcPts val="1305"/>
              </a:lnSpc>
              <a:buNone/>
            </a:pPr>
            <a:r>
              <a:rPr lang="en-US" sz="1050" b="0" i="0" dirty="0" err="1">
                <a:solidFill>
                  <a:srgbClr val="000000"/>
                </a:solidFill>
                <a:effectLst/>
                <a:latin typeface="Monaco" pitchFamily="2" charset="77"/>
              </a:rPr>
              <a:t>environment:num_household_dogs</a:t>
            </a:r>
            <a:r>
              <a:rPr lang="en-US" sz="1050" b="0" i="0" dirty="0">
                <a:solidFill>
                  <a:srgbClr val="000000"/>
                </a:solidFill>
                <a:effectLst/>
                <a:latin typeface="Monaco" pitchFamily="2" charset="77"/>
              </a:rPr>
              <a:t>   6    510   85.05   0.766  0.598</a:t>
            </a:r>
          </a:p>
          <a:p>
            <a:pPr algn="l">
              <a:lnSpc>
                <a:spcPts val="1305"/>
              </a:lnSpc>
              <a:buNone/>
            </a:pPr>
            <a:r>
              <a:rPr lang="en-US" sz="1050" b="0" i="0" dirty="0">
                <a:solidFill>
                  <a:srgbClr val="000000"/>
                </a:solidFill>
                <a:effectLst/>
                <a:latin typeface="Monaco" pitchFamily="2" charset="77"/>
              </a:rPr>
              <a:t>Residuals                      110  12213  111.02               </a:t>
            </a:r>
          </a:p>
          <a:p>
            <a:pPr algn="l">
              <a:lnSpc>
                <a:spcPts val="1305"/>
              </a:lnSpc>
              <a:buNone/>
            </a:pPr>
            <a:endParaRPr lang="en-US" sz="1050" b="0" i="0" dirty="0">
              <a:solidFill>
                <a:srgbClr val="000000"/>
              </a:solidFill>
              <a:effectLst/>
              <a:latin typeface="Monaco" pitchFamily="2" charset="77"/>
            </a:endParaRPr>
          </a:p>
          <a:p>
            <a:pPr algn="l">
              <a:lnSpc>
                <a:spcPts val="1305"/>
              </a:lnSpc>
              <a:buNone/>
            </a:pPr>
            <a:endParaRPr lang="en-US" sz="1050" dirty="0">
              <a:solidFill>
                <a:srgbClr val="000000"/>
              </a:solidFill>
              <a:latin typeface="Monaco" pitchFamily="2" charset="77"/>
            </a:endParaRPr>
          </a:p>
          <a:p>
            <a:pPr algn="l">
              <a:lnSpc>
                <a:spcPts val="1305"/>
              </a:lnSpc>
              <a:buNone/>
            </a:pPr>
            <a:endParaRPr lang="en-US" sz="1050" dirty="0">
              <a:solidFill>
                <a:srgbClr val="000000"/>
              </a:solidFill>
              <a:latin typeface="Monaco" pitchFamily="2" charset="77"/>
            </a:endParaRPr>
          </a:p>
          <a:p>
            <a:pPr algn="l">
              <a:lnSpc>
                <a:spcPts val="1305"/>
              </a:lnSpc>
              <a:buNone/>
            </a:pPr>
            <a:endParaRPr lang="en-US" sz="1050" b="0" i="0" dirty="0">
              <a:solidFill>
                <a:srgbClr val="000000"/>
              </a:solidFill>
              <a:effectLst/>
              <a:latin typeface="Monaco" pitchFamily="2" charset="77"/>
            </a:endParaRPr>
          </a:p>
          <a:p>
            <a:pPr algn="l">
              <a:lnSpc>
                <a:spcPts val="1305"/>
              </a:lnSpc>
              <a:buNone/>
            </a:pPr>
            <a:r>
              <a:rPr lang="en-US" sz="1050" b="0" i="0" dirty="0">
                <a:solidFill>
                  <a:srgbClr val="000000"/>
                </a:solidFill>
                <a:effectLst/>
                <a:latin typeface="Monaco" pitchFamily="2" charset="77"/>
              </a:rPr>
              <a:t>32 observations deleted due to missingness</a:t>
            </a:r>
          </a:p>
          <a:p>
            <a:pPr algn="l">
              <a:lnSpc>
                <a:spcPts val="1305"/>
              </a:lnSpc>
              <a:buNone/>
            </a:pPr>
            <a:r>
              <a:rPr lang="en-US" sz="1050" b="0" i="0" dirty="0">
                <a:solidFill>
                  <a:srgbClr val="000000"/>
                </a:solidFill>
                <a:effectLst/>
                <a:latin typeface="Monaco" pitchFamily="2" charset="77"/>
              </a:rPr>
              <a:t>                                 </a:t>
            </a:r>
            <a:r>
              <a:rPr lang="en-US" sz="1050" b="0" i="0" dirty="0" err="1">
                <a:solidFill>
                  <a:srgbClr val="000000"/>
                </a:solidFill>
                <a:effectLst/>
                <a:latin typeface="Monaco" pitchFamily="2" charset="77"/>
              </a:rPr>
              <a:t>Df</a:t>
            </a:r>
            <a:r>
              <a:rPr lang="en-US" sz="1050" b="0" i="0" dirty="0">
                <a:solidFill>
                  <a:srgbClr val="000000"/>
                </a:solidFill>
                <a:effectLst/>
                <a:latin typeface="Monaco" pitchFamily="2" charset="77"/>
              </a:rPr>
              <a:t> Sum Sq Mean Sq F value </a:t>
            </a:r>
            <a:r>
              <a:rPr lang="en-US" sz="1050" b="0" i="0" dirty="0" err="1">
                <a:solidFill>
                  <a:srgbClr val="000000"/>
                </a:solidFill>
                <a:effectLst/>
                <a:latin typeface="Monaco" pitchFamily="2" charset="77"/>
              </a:rPr>
              <a:t>Pr</a:t>
            </a:r>
            <a:r>
              <a:rPr lang="en-US" sz="1050" b="0" i="0" dirty="0">
                <a:solidFill>
                  <a:srgbClr val="000000"/>
                </a:solidFill>
                <a:effectLst/>
                <a:latin typeface="Monaco" pitchFamily="2" charset="77"/>
              </a:rPr>
              <a:t>(&gt;F)    </a:t>
            </a:r>
          </a:p>
          <a:p>
            <a:pPr algn="l">
              <a:lnSpc>
                <a:spcPts val="1305"/>
              </a:lnSpc>
              <a:buNone/>
            </a:pPr>
            <a:r>
              <a:rPr lang="en-US" sz="1050" b="0" i="0" dirty="0" err="1">
                <a:solidFill>
                  <a:srgbClr val="000000"/>
                </a:solidFill>
                <a:effectLst/>
                <a:latin typeface="Monaco" pitchFamily="2" charset="77"/>
              </a:rPr>
              <a:t>owned_status</a:t>
            </a:r>
            <a:r>
              <a:rPr lang="en-US" sz="1050" b="0" i="0" dirty="0">
                <a:solidFill>
                  <a:srgbClr val="000000"/>
                </a:solidFill>
                <a:effectLst/>
                <a:latin typeface="Monaco" pitchFamily="2" charset="77"/>
              </a:rPr>
              <a:t>                      1   1953  1953.2  19.788  2e-05 ***</a:t>
            </a:r>
          </a:p>
          <a:p>
            <a:pPr algn="l">
              <a:lnSpc>
                <a:spcPts val="1305"/>
              </a:lnSpc>
              <a:buNone/>
            </a:pPr>
            <a:r>
              <a:rPr lang="en-US" sz="1050" b="0" i="0" dirty="0" err="1">
                <a:solidFill>
                  <a:srgbClr val="000000"/>
                </a:solidFill>
                <a:effectLst/>
                <a:latin typeface="Monaco" pitchFamily="2" charset="77"/>
              </a:rPr>
              <a:t>num_household_dogs</a:t>
            </a:r>
            <a:r>
              <a:rPr lang="en-US" sz="1050" b="0" i="0" dirty="0">
                <a:solidFill>
                  <a:srgbClr val="000000"/>
                </a:solidFill>
                <a:effectLst/>
                <a:latin typeface="Monaco" pitchFamily="2" charset="77"/>
              </a:rPr>
              <a:t>                4    326    81.6   0.827  0.511    </a:t>
            </a:r>
          </a:p>
          <a:p>
            <a:pPr algn="l">
              <a:lnSpc>
                <a:spcPts val="1305"/>
              </a:lnSpc>
              <a:buNone/>
            </a:pPr>
            <a:r>
              <a:rPr lang="en-US" sz="1050" b="0" i="0" dirty="0" err="1">
                <a:solidFill>
                  <a:srgbClr val="000000"/>
                </a:solidFill>
                <a:effectLst/>
                <a:latin typeface="Monaco" pitchFamily="2" charset="77"/>
              </a:rPr>
              <a:t>owned_status:num_household_dogs</a:t>
            </a:r>
            <a:r>
              <a:rPr lang="en-US" sz="1050" b="0" i="0" dirty="0">
                <a:solidFill>
                  <a:srgbClr val="000000"/>
                </a:solidFill>
                <a:effectLst/>
                <a:latin typeface="Monaco" pitchFamily="2" charset="77"/>
              </a:rPr>
              <a:t>   1     28    28.4   0.288  0.593    </a:t>
            </a:r>
          </a:p>
          <a:p>
            <a:pPr algn="l">
              <a:lnSpc>
                <a:spcPts val="1305"/>
              </a:lnSpc>
              <a:buNone/>
            </a:pPr>
            <a:r>
              <a:rPr lang="en-US" sz="1050" b="0" i="0" dirty="0">
                <a:solidFill>
                  <a:srgbClr val="000000"/>
                </a:solidFill>
                <a:effectLst/>
                <a:latin typeface="Monaco" pitchFamily="2" charset="77"/>
              </a:rPr>
              <a:t>Residuals                       116  11450    98.7              </a:t>
            </a:r>
          </a:p>
        </p:txBody>
      </p:sp>
      <p:sp>
        <p:nvSpPr>
          <p:cNvPr id="11" name="Rounded Rectangle 10">
            <a:extLst>
              <a:ext uri="{FF2B5EF4-FFF2-40B4-BE49-F238E27FC236}">
                <a16:creationId xmlns:a16="http://schemas.microsoft.com/office/drawing/2014/main" id="{67F19F3D-820F-5878-7545-63138FFDFEF9}"/>
              </a:ext>
            </a:extLst>
          </p:cNvPr>
          <p:cNvSpPr/>
          <p:nvPr/>
        </p:nvSpPr>
        <p:spPr>
          <a:xfrm>
            <a:off x="3678512" y="3894218"/>
            <a:ext cx="5989596" cy="1397162"/>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Owned status &amp; household dogs</a:t>
            </a:r>
          </a:p>
        </p:txBody>
      </p:sp>
      <p:sp>
        <p:nvSpPr>
          <p:cNvPr id="12" name="TextBox 11">
            <a:extLst>
              <a:ext uri="{FF2B5EF4-FFF2-40B4-BE49-F238E27FC236}">
                <a16:creationId xmlns:a16="http://schemas.microsoft.com/office/drawing/2014/main" id="{0CD998DF-FCD9-A907-E84C-853C22C680B1}"/>
              </a:ext>
            </a:extLst>
          </p:cNvPr>
          <p:cNvSpPr txBox="1"/>
          <p:nvPr/>
        </p:nvSpPr>
        <p:spPr>
          <a:xfrm>
            <a:off x="3711965" y="5851381"/>
            <a:ext cx="6099716" cy="606192"/>
          </a:xfrm>
          <a:prstGeom prst="rect">
            <a:avLst/>
          </a:prstGeom>
          <a:noFill/>
        </p:spPr>
        <p:txBody>
          <a:bodyPr wrap="square">
            <a:spAutoFit/>
          </a:bodyPr>
          <a:lstStyle/>
          <a:p>
            <a:pPr algn="l">
              <a:lnSpc>
                <a:spcPts val="1305"/>
              </a:lnSpc>
              <a:buNone/>
            </a:pPr>
            <a:r>
              <a:rPr lang="en-US" sz="1050" b="0" i="0" dirty="0" err="1">
                <a:solidFill>
                  <a:srgbClr val="000000"/>
                </a:solidFill>
                <a:effectLst/>
                <a:latin typeface="Monaco" pitchFamily="2" charset="77"/>
              </a:rPr>
              <a:t>Df</a:t>
            </a:r>
            <a:r>
              <a:rPr lang="en-US" sz="1050" b="0" i="0" dirty="0">
                <a:solidFill>
                  <a:srgbClr val="000000"/>
                </a:solidFill>
                <a:effectLst/>
                <a:latin typeface="Monaco" pitchFamily="2" charset="77"/>
              </a:rPr>
              <a:t> Sum Sq Mean Sq F value </a:t>
            </a:r>
            <a:r>
              <a:rPr lang="en-US" sz="1050" b="0" i="0" dirty="0" err="1">
                <a:solidFill>
                  <a:srgbClr val="000000"/>
                </a:solidFill>
                <a:effectLst/>
                <a:latin typeface="Monaco" pitchFamily="2" charset="77"/>
              </a:rPr>
              <a:t>Pr</a:t>
            </a:r>
            <a:r>
              <a:rPr lang="en-US" sz="1050" b="0" i="0" dirty="0">
                <a:solidFill>
                  <a:srgbClr val="000000"/>
                </a:solidFill>
                <a:effectLst/>
                <a:latin typeface="Monaco" pitchFamily="2" charset="77"/>
              </a:rPr>
              <a:t>(&gt;F)</a:t>
            </a:r>
          </a:p>
          <a:p>
            <a:pPr algn="l">
              <a:lnSpc>
                <a:spcPts val="1305"/>
              </a:lnSpc>
              <a:buNone/>
            </a:pPr>
            <a:r>
              <a:rPr lang="en-US" sz="1050" b="0" i="0" dirty="0">
                <a:solidFill>
                  <a:srgbClr val="000000"/>
                </a:solidFill>
                <a:effectLst/>
                <a:latin typeface="Monaco" pitchFamily="2" charset="77"/>
              </a:rPr>
              <a:t>environment   2     72   36.13   0.347  0.707</a:t>
            </a:r>
          </a:p>
          <a:p>
            <a:pPr algn="l">
              <a:lnSpc>
                <a:spcPts val="1305"/>
              </a:lnSpc>
              <a:buNone/>
            </a:pPr>
            <a:r>
              <a:rPr lang="en-US" sz="1050" b="0" i="0" dirty="0">
                <a:solidFill>
                  <a:srgbClr val="000000"/>
                </a:solidFill>
                <a:effectLst/>
                <a:latin typeface="Monaco" pitchFamily="2" charset="77"/>
              </a:rPr>
              <a:t>Residuals   152  15827  104.12</a:t>
            </a:r>
          </a:p>
        </p:txBody>
      </p:sp>
      <p:sp>
        <p:nvSpPr>
          <p:cNvPr id="13" name="Rounded Rectangle 12">
            <a:extLst>
              <a:ext uri="{FF2B5EF4-FFF2-40B4-BE49-F238E27FC236}">
                <a16:creationId xmlns:a16="http://schemas.microsoft.com/office/drawing/2014/main" id="{97282BEE-EC4B-ADE0-3FD1-BB76726327D0}"/>
              </a:ext>
            </a:extLst>
          </p:cNvPr>
          <p:cNvSpPr/>
          <p:nvPr/>
        </p:nvSpPr>
        <p:spPr>
          <a:xfrm>
            <a:off x="3661788" y="5610000"/>
            <a:ext cx="5989596" cy="925552"/>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t"/>
          <a:lstStyle/>
          <a:p>
            <a:r>
              <a:rPr lang="en-US" sz="1200" dirty="0"/>
              <a:t>Environment</a:t>
            </a:r>
          </a:p>
        </p:txBody>
      </p:sp>
    </p:spTree>
    <p:extLst>
      <p:ext uri="{BB962C8B-B14F-4D97-AF65-F5344CB8AC3E}">
        <p14:creationId xmlns:p14="http://schemas.microsoft.com/office/powerpoint/2010/main" val="3438639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B5BC1-7FE4-981D-D797-FD17FAAAA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40798-6468-7105-0454-FDD5DEE9CB24}"/>
              </a:ext>
            </a:extLst>
          </p:cNvPr>
          <p:cNvSpPr>
            <a:spLocks noGrp="1"/>
          </p:cNvSpPr>
          <p:nvPr>
            <p:ph type="title"/>
          </p:nvPr>
        </p:nvSpPr>
        <p:spPr/>
        <p:txBody>
          <a:bodyPr/>
          <a:lstStyle/>
          <a:p>
            <a:r>
              <a:rPr lang="en-US" dirty="0"/>
              <a:t>Conclusion – Final regression model</a:t>
            </a:r>
          </a:p>
        </p:txBody>
      </p:sp>
      <p:sp>
        <p:nvSpPr>
          <p:cNvPr id="4" name="Rectangle 3">
            <a:extLst>
              <a:ext uri="{FF2B5EF4-FFF2-40B4-BE49-F238E27FC236}">
                <a16:creationId xmlns:a16="http://schemas.microsoft.com/office/drawing/2014/main" id="{66C6BB6A-9D7A-A9BD-E02E-6BE450C5ACBC}"/>
              </a:ext>
            </a:extLst>
          </p:cNvPr>
          <p:cNvSpPr/>
          <p:nvPr/>
        </p:nvSpPr>
        <p:spPr>
          <a:xfrm>
            <a:off x="4239891" y="455220"/>
            <a:ext cx="3713357" cy="807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4533B39-B479-A83B-BB8A-1459D6F34276}"/>
              </a:ext>
            </a:extLst>
          </p:cNvPr>
          <p:cNvSpPr/>
          <p:nvPr/>
        </p:nvSpPr>
        <p:spPr>
          <a:xfrm>
            <a:off x="438126" y="452302"/>
            <a:ext cx="3713357" cy="914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93BBE6F-9638-6B9A-C3CF-0B15F71F1FD6}"/>
              </a:ext>
            </a:extLst>
          </p:cNvPr>
          <p:cNvSpPr txBox="1"/>
          <p:nvPr/>
        </p:nvSpPr>
        <p:spPr>
          <a:xfrm>
            <a:off x="959001" y="2270026"/>
            <a:ext cx="8486079" cy="3416320"/>
          </a:xfrm>
          <a:prstGeom prst="rect">
            <a:avLst/>
          </a:prstGeom>
          <a:noFill/>
        </p:spPr>
        <p:txBody>
          <a:bodyPr wrap="square" rtlCol="0">
            <a:spAutoFit/>
          </a:bodyPr>
          <a:lstStyle/>
          <a:p>
            <a:r>
              <a:rPr lang="en-US" dirty="0"/>
              <a:t>Aggression score equation = 3.7972 </a:t>
            </a:r>
            <a:r>
              <a:rPr lang="en-US" i="1" dirty="0"/>
              <a:t>(intercept) </a:t>
            </a:r>
          </a:p>
          <a:p>
            <a:r>
              <a:rPr lang="en-US" dirty="0"/>
              <a:t>+ 11.5787 * </a:t>
            </a:r>
            <a:r>
              <a:rPr lang="en-US" b="1" dirty="0" err="1"/>
              <a:t>owned_status</a:t>
            </a:r>
            <a:r>
              <a:rPr lang="en-US" b="1" dirty="0"/>
              <a:t> </a:t>
            </a:r>
            <a:r>
              <a:rPr lang="en-US" dirty="0"/>
              <a:t>(where private home = 1, group housing = 0) </a:t>
            </a:r>
          </a:p>
          <a:p>
            <a:r>
              <a:rPr lang="en-US" dirty="0"/>
              <a:t>- 4.0971 * </a:t>
            </a:r>
            <a:r>
              <a:rPr lang="en-US" b="1" dirty="0"/>
              <a:t>purebred</a:t>
            </a:r>
            <a:r>
              <a:rPr lang="en-US" dirty="0"/>
              <a:t> (where yes = 1, otherwise 0) </a:t>
            </a:r>
          </a:p>
          <a:p>
            <a:r>
              <a:rPr lang="en-US" dirty="0"/>
              <a:t>- 0.1538 * </a:t>
            </a:r>
            <a:r>
              <a:rPr lang="en-US" b="1" dirty="0"/>
              <a:t>age</a:t>
            </a:r>
          </a:p>
          <a:p>
            <a:r>
              <a:rPr lang="en-US" dirty="0"/>
              <a:t>+ 4.3269 * </a:t>
            </a:r>
            <a:r>
              <a:rPr lang="en-US" b="1" dirty="0" err="1"/>
              <a:t>num_household_dogs</a:t>
            </a:r>
            <a:r>
              <a:rPr lang="en-US" dirty="0"/>
              <a:t>(2)</a:t>
            </a:r>
          </a:p>
          <a:p>
            <a:r>
              <a:rPr lang="en-US" dirty="0"/>
              <a:t>+ 3.0231 * </a:t>
            </a:r>
            <a:r>
              <a:rPr lang="en-US" dirty="0" err="1"/>
              <a:t>num_household_dogs</a:t>
            </a:r>
            <a:r>
              <a:rPr lang="en-US" dirty="0"/>
              <a:t>(3) </a:t>
            </a:r>
          </a:p>
          <a:p>
            <a:r>
              <a:rPr lang="en-US" dirty="0"/>
              <a:t>+ 3.4658 * </a:t>
            </a:r>
            <a:r>
              <a:rPr lang="en-US" dirty="0" err="1"/>
              <a:t>num_household_dogs</a:t>
            </a:r>
            <a:r>
              <a:rPr lang="en-US" dirty="0"/>
              <a:t>(4)</a:t>
            </a:r>
          </a:p>
          <a:p>
            <a:r>
              <a:rPr lang="en-US" dirty="0"/>
              <a:t>+ 4.6222 * </a:t>
            </a:r>
            <a:r>
              <a:rPr lang="en-US" dirty="0" err="1"/>
              <a:t>num_household_dogs</a:t>
            </a:r>
            <a:r>
              <a:rPr lang="en-US" dirty="0"/>
              <a:t>(6+)</a:t>
            </a:r>
          </a:p>
          <a:p>
            <a:r>
              <a:rPr lang="en-US" dirty="0"/>
              <a:t>- 2.2729 * </a:t>
            </a:r>
            <a:r>
              <a:rPr lang="en-US" b="1" dirty="0"/>
              <a:t>origin</a:t>
            </a:r>
            <a:r>
              <a:rPr lang="en-US" dirty="0"/>
              <a:t>(Other)</a:t>
            </a:r>
          </a:p>
          <a:p>
            <a:r>
              <a:rPr lang="en-US" dirty="0"/>
              <a:t>+ 7.8655 * origin(Relation)</a:t>
            </a:r>
          </a:p>
          <a:p>
            <a:r>
              <a:rPr lang="en-US" dirty="0"/>
              <a:t>- 1.8257 * origin(Rescue)</a:t>
            </a:r>
          </a:p>
          <a:p>
            <a:r>
              <a:rPr lang="en-US" dirty="0"/>
              <a:t>+ 8.6146* origin(Shelter)</a:t>
            </a:r>
          </a:p>
        </p:txBody>
      </p:sp>
      <p:sp>
        <p:nvSpPr>
          <p:cNvPr id="7" name="TextBox 6">
            <a:extLst>
              <a:ext uri="{FF2B5EF4-FFF2-40B4-BE49-F238E27FC236}">
                <a16:creationId xmlns:a16="http://schemas.microsoft.com/office/drawing/2014/main" id="{24F88411-3E00-8F59-E202-CD1B2D44F807}"/>
              </a:ext>
            </a:extLst>
          </p:cNvPr>
          <p:cNvSpPr txBox="1"/>
          <p:nvPr/>
        </p:nvSpPr>
        <p:spPr>
          <a:xfrm>
            <a:off x="836340" y="6218114"/>
            <a:ext cx="6934142" cy="369332"/>
          </a:xfrm>
          <a:prstGeom prst="rect">
            <a:avLst/>
          </a:prstGeom>
          <a:noFill/>
        </p:spPr>
        <p:txBody>
          <a:bodyPr wrap="none" rtlCol="0">
            <a:spAutoFit/>
          </a:bodyPr>
          <a:lstStyle/>
          <a:p>
            <a:r>
              <a:rPr lang="en-US" dirty="0"/>
              <a:t>Note: </a:t>
            </a:r>
            <a:r>
              <a:rPr lang="en-US" dirty="0" err="1"/>
              <a:t>num_household_dogs</a:t>
            </a:r>
            <a:r>
              <a:rPr lang="en-US" dirty="0"/>
              <a:t> 1 is default; for origin, breeder is the default</a:t>
            </a:r>
          </a:p>
        </p:txBody>
      </p:sp>
      <p:sp>
        <p:nvSpPr>
          <p:cNvPr id="8" name="TextBox 7">
            <a:extLst>
              <a:ext uri="{FF2B5EF4-FFF2-40B4-BE49-F238E27FC236}">
                <a16:creationId xmlns:a16="http://schemas.microsoft.com/office/drawing/2014/main" id="{EBAD7660-7BE6-F9A3-3384-6AED975EE1E1}"/>
              </a:ext>
            </a:extLst>
          </p:cNvPr>
          <p:cNvSpPr txBox="1"/>
          <p:nvPr/>
        </p:nvSpPr>
        <p:spPr>
          <a:xfrm>
            <a:off x="538484" y="2505670"/>
            <a:ext cx="780585" cy="2308324"/>
          </a:xfrm>
          <a:prstGeom prst="rect">
            <a:avLst/>
          </a:prstGeom>
          <a:noFill/>
        </p:spPr>
        <p:txBody>
          <a:bodyPr wrap="square" rtlCol="0">
            <a:spAutoFit/>
          </a:bodyPr>
          <a:lstStyle/>
          <a:p>
            <a:r>
              <a:rPr lang="en-US" dirty="0">
                <a:solidFill>
                  <a:schemeClr val="accent2"/>
                </a:solidFill>
              </a:rPr>
              <a:t>1</a:t>
            </a:r>
          </a:p>
          <a:p>
            <a:r>
              <a:rPr lang="en-US" dirty="0">
                <a:solidFill>
                  <a:schemeClr val="accent2"/>
                </a:solidFill>
              </a:rPr>
              <a:t>2</a:t>
            </a:r>
          </a:p>
          <a:p>
            <a:r>
              <a:rPr lang="en-US" dirty="0">
                <a:solidFill>
                  <a:schemeClr val="accent2"/>
                </a:solidFill>
              </a:rPr>
              <a:t>3</a:t>
            </a:r>
          </a:p>
          <a:p>
            <a:r>
              <a:rPr lang="en-US" dirty="0">
                <a:solidFill>
                  <a:schemeClr val="accent2"/>
                </a:solidFill>
              </a:rPr>
              <a:t>4</a:t>
            </a:r>
          </a:p>
          <a:p>
            <a:endParaRPr lang="en-US" dirty="0">
              <a:solidFill>
                <a:schemeClr val="accent2"/>
              </a:solidFill>
            </a:endParaRPr>
          </a:p>
          <a:p>
            <a:endParaRPr lang="en-US" dirty="0">
              <a:solidFill>
                <a:schemeClr val="accent2"/>
              </a:solidFill>
            </a:endParaRPr>
          </a:p>
          <a:p>
            <a:endParaRPr lang="en-US" dirty="0">
              <a:solidFill>
                <a:schemeClr val="accent2"/>
              </a:solidFill>
            </a:endParaRPr>
          </a:p>
          <a:p>
            <a:r>
              <a:rPr lang="en-US" dirty="0">
                <a:solidFill>
                  <a:schemeClr val="accent2"/>
                </a:solidFill>
              </a:rPr>
              <a:t>5</a:t>
            </a:r>
          </a:p>
        </p:txBody>
      </p:sp>
      <p:sp>
        <p:nvSpPr>
          <p:cNvPr id="9" name="Snip Diagonal Corner Rectangle 8">
            <a:extLst>
              <a:ext uri="{FF2B5EF4-FFF2-40B4-BE49-F238E27FC236}">
                <a16:creationId xmlns:a16="http://schemas.microsoft.com/office/drawing/2014/main" id="{92C93C65-BCA1-F105-9B82-5A082B637A42}"/>
              </a:ext>
            </a:extLst>
          </p:cNvPr>
          <p:cNvSpPr/>
          <p:nvPr/>
        </p:nvSpPr>
        <p:spPr>
          <a:xfrm>
            <a:off x="5464098" y="3428999"/>
            <a:ext cx="3679902" cy="2447693"/>
          </a:xfrm>
          <a:prstGeom prst="snip2Diag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Dogs in private home settings that have more than 1 dog, non purebreds and are either from “relations” or shelter are more likely to be aggressive.  </a:t>
            </a:r>
          </a:p>
          <a:p>
            <a:pPr algn="ctr"/>
            <a:endParaRPr lang="en-US" dirty="0"/>
          </a:p>
          <a:p>
            <a:pPr algn="ctr"/>
            <a:r>
              <a:rPr lang="en-US" dirty="0"/>
              <a:t>Furthermore, aggression declines slightly with age.</a:t>
            </a:r>
          </a:p>
        </p:txBody>
      </p:sp>
    </p:spTree>
    <p:extLst>
      <p:ext uri="{BB962C8B-B14F-4D97-AF65-F5344CB8AC3E}">
        <p14:creationId xmlns:p14="http://schemas.microsoft.com/office/powerpoint/2010/main" val="2949708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AC5C7-CBCC-88D1-4E33-71036EDD04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BD1B2-5F69-0C93-F49E-86BE1AEEDEF2}"/>
              </a:ext>
            </a:extLst>
          </p:cNvPr>
          <p:cNvSpPr>
            <a:spLocks noGrp="1"/>
          </p:cNvSpPr>
          <p:nvPr>
            <p:ph type="title"/>
          </p:nvPr>
        </p:nvSpPr>
        <p:spPr/>
        <p:txBody>
          <a:bodyPr/>
          <a:lstStyle/>
          <a:p>
            <a:r>
              <a:rPr lang="en-US" dirty="0"/>
              <a:t>Conclusion – Final thoughts &amp; Takeaways</a:t>
            </a:r>
          </a:p>
        </p:txBody>
      </p:sp>
      <p:sp>
        <p:nvSpPr>
          <p:cNvPr id="4" name="Rectangle 3">
            <a:extLst>
              <a:ext uri="{FF2B5EF4-FFF2-40B4-BE49-F238E27FC236}">
                <a16:creationId xmlns:a16="http://schemas.microsoft.com/office/drawing/2014/main" id="{1B4A9396-2CF2-04B0-0C80-055811060EE6}"/>
              </a:ext>
            </a:extLst>
          </p:cNvPr>
          <p:cNvSpPr/>
          <p:nvPr/>
        </p:nvSpPr>
        <p:spPr>
          <a:xfrm>
            <a:off x="4239891" y="455220"/>
            <a:ext cx="3713357" cy="80791"/>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97EFBDF-206A-5182-807C-97463AB6471F}"/>
              </a:ext>
            </a:extLst>
          </p:cNvPr>
          <p:cNvSpPr/>
          <p:nvPr/>
        </p:nvSpPr>
        <p:spPr>
          <a:xfrm>
            <a:off x="438126" y="452302"/>
            <a:ext cx="3713357" cy="9144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1F17BD6-F2F7-DA30-A95B-63FFF9C44E8E}"/>
              </a:ext>
            </a:extLst>
          </p:cNvPr>
          <p:cNvSpPr txBox="1"/>
          <p:nvPr/>
        </p:nvSpPr>
        <p:spPr>
          <a:xfrm>
            <a:off x="449276" y="1745098"/>
            <a:ext cx="10824607" cy="4247317"/>
          </a:xfrm>
          <a:prstGeom prst="rect">
            <a:avLst/>
          </a:prstGeom>
          <a:noFill/>
        </p:spPr>
        <p:txBody>
          <a:bodyPr wrap="square" rtlCol="0">
            <a:spAutoFit/>
          </a:bodyPr>
          <a:lstStyle/>
          <a:p>
            <a:endParaRPr lang="en-US" sz="1500" dirty="0"/>
          </a:p>
          <a:p>
            <a:pPr marL="285750" indent="-285750">
              <a:buFont typeface="Arial" panose="020B0604020202020204" pitchFamily="34" charset="0"/>
              <a:buChar char="•"/>
            </a:pPr>
            <a:r>
              <a:rPr lang="en-US" sz="1500" dirty="0"/>
              <a:t>Data clean up takes longer than one would think! (and it’s a shame to waste collected data that have one or two NAs)</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Dogs in private home settings that have more than one dog, non purebreds and either from “relations” or shelter are more likely to be aggressive.  Furthermore, aggression declines slightly with age.</a:t>
            </a:r>
          </a:p>
          <a:p>
            <a:pPr marL="742950" lvl="1" indent="-285750">
              <a:buFont typeface="Wingdings" pitchFamily="2" charset="2"/>
              <a:buChar char="Ø"/>
            </a:pPr>
            <a:r>
              <a:rPr lang="en-US" sz="1500" dirty="0"/>
              <a:t>Some of the results make intuitive sense (e.g., aggression declines slightly with age, shelter dogs more likely to be aggressive)</a:t>
            </a:r>
          </a:p>
          <a:p>
            <a:pPr marL="742950" lvl="1" indent="-285750">
              <a:buFont typeface="Wingdings" pitchFamily="2" charset="2"/>
              <a:buChar char="Ø"/>
            </a:pPr>
            <a:r>
              <a:rPr lang="en-US" sz="1500" dirty="0"/>
              <a:t>Interestingly, I learned the diff between “shelters” and “rescues” and shelters add to aggression score while rescue decreases it.  (Could be explained that shelters can house a lot of dogs and be overrun)</a:t>
            </a:r>
          </a:p>
          <a:p>
            <a:pPr marL="742950" lvl="1" indent="-285750">
              <a:buFont typeface="Wingdings" pitchFamily="2" charset="2"/>
              <a:buChar char="Ø"/>
            </a:pPr>
            <a:r>
              <a:rPr lang="en-US" sz="1500" dirty="0"/>
              <a:t>With more dogs, it’s possible that the chance of reaction capturing is higher</a:t>
            </a:r>
          </a:p>
          <a:p>
            <a:pPr marL="742950" lvl="1" indent="-285750">
              <a:buFont typeface="Wingdings" pitchFamily="2" charset="2"/>
              <a:buChar char="Ø"/>
            </a:pPr>
            <a:r>
              <a:rPr lang="en-US" sz="1500" dirty="0"/>
              <a:t>Some ambiguity with survey answers (e.g. how is urban, suburban vs. rural defined?)</a:t>
            </a:r>
          </a:p>
          <a:p>
            <a:pPr marL="742950" lvl="1" indent="-285750">
              <a:buFont typeface="Wingdings" pitchFamily="2" charset="2"/>
              <a:buChar char="Ø"/>
            </a:pPr>
            <a:endParaRPr lang="en-US" sz="1500" dirty="0"/>
          </a:p>
          <a:p>
            <a:pPr marL="285750" indent="-285750">
              <a:buFont typeface="Arial" panose="020B0604020202020204" pitchFamily="34" charset="0"/>
              <a:buChar char="•"/>
            </a:pPr>
            <a:r>
              <a:rPr lang="en-US" sz="1500" dirty="0"/>
              <a:t>With adjusted R</a:t>
            </a:r>
            <a:r>
              <a:rPr lang="en-US" sz="1500" baseline="30000" dirty="0"/>
              <a:t>2 </a:t>
            </a:r>
            <a:r>
              <a:rPr lang="en-US" sz="1500" dirty="0"/>
              <a:t>of ~0.2, there are a lot of other factors the current model does not capture.</a:t>
            </a:r>
          </a:p>
          <a:p>
            <a:pPr marL="742950" lvl="1" indent="-285750">
              <a:buFont typeface="Wingdings" pitchFamily="2" charset="2"/>
              <a:buChar char="Ø"/>
            </a:pPr>
            <a:r>
              <a:rPr lang="en-US" sz="1500" dirty="0"/>
              <a:t>Would more continuous quantitative variables result in better model?</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Adjusted aggression score had slight higher explanatory results, perhaps because the results can be better defined with more range. </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dirty="0"/>
              <a:t>Initial curiosity if “environment” (urban vs. rural) impacts aggression was answered and more.</a:t>
            </a:r>
          </a:p>
          <a:p>
            <a:endParaRPr lang="en-US" sz="1500" dirty="0"/>
          </a:p>
        </p:txBody>
      </p:sp>
    </p:spTree>
    <p:extLst>
      <p:ext uri="{BB962C8B-B14F-4D97-AF65-F5344CB8AC3E}">
        <p14:creationId xmlns:p14="http://schemas.microsoft.com/office/powerpoint/2010/main" val="2592096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3855D9-C97E-47DB-90EE-0BCC42C36ED2}"/>
              </a:ext>
            </a:extLst>
          </p:cNvPr>
          <p:cNvSpPr>
            <a:spLocks noGrp="1"/>
          </p:cNvSpPr>
          <p:nvPr>
            <p:ph type="title"/>
          </p:nvPr>
        </p:nvSpPr>
        <p:spPr>
          <a:xfrm>
            <a:off x="959157" y="1113764"/>
            <a:ext cx="3269749" cy="4624327"/>
          </a:xfrm>
        </p:spPr>
        <p:txBody>
          <a:bodyPr anchor="ctr">
            <a:normAutofit/>
          </a:bodyPr>
          <a:lstStyle/>
          <a:p>
            <a:r>
              <a:rPr lang="en-US" sz="3200">
                <a:solidFill>
                  <a:srgbClr val="FFFFFF"/>
                </a:solidFill>
              </a:rPr>
              <a:t>Thank you!</a:t>
            </a:r>
          </a:p>
        </p:txBody>
      </p:sp>
    </p:spTree>
    <p:extLst>
      <p:ext uri="{BB962C8B-B14F-4D97-AF65-F5344CB8AC3E}">
        <p14:creationId xmlns:p14="http://schemas.microsoft.com/office/powerpoint/2010/main" val="604966713"/>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1255</TotalTime>
  <Words>1875</Words>
  <Application>Microsoft Macintosh PowerPoint</Application>
  <PresentationFormat>Widescreen</PresentationFormat>
  <Paragraphs>194</Paragraphs>
  <Slides>16</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Gill Sans MT</vt:lpstr>
      <vt:lpstr>Monaco</vt:lpstr>
      <vt:lpstr>Wingdings</vt:lpstr>
      <vt:lpstr>Wingdings 2</vt:lpstr>
      <vt:lpstr>Dividend</vt:lpstr>
      <vt:lpstr>aggression factors in dogs</vt:lpstr>
      <vt:lpstr>Abstract</vt:lpstr>
      <vt:lpstr>This is NOLA</vt:lpstr>
      <vt:lpstr>Overview – Background data</vt:lpstr>
      <vt:lpstr>Overview –  dependent variable </vt:lpstr>
      <vt:lpstr>Overview – Independent  variables </vt:lpstr>
      <vt:lpstr>Summary statistics – dependent variable</vt:lpstr>
      <vt:lpstr>Summary statistics – independent variables</vt:lpstr>
      <vt:lpstr>Statistical outputs – Regression Results</vt:lpstr>
      <vt:lpstr>Statistical outputs – checking assumptions</vt:lpstr>
      <vt:lpstr>Statistical outputs – checking assumptions</vt:lpstr>
      <vt:lpstr>Statistical outputs – ANOVA Tables</vt:lpstr>
      <vt:lpstr>Statistical outputs – ANOVA Tables</vt:lpstr>
      <vt:lpstr>Conclusion – Final regression model</vt:lpstr>
      <vt:lpstr>Conclusion – Final thoughts &amp;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Jessica Chen</dc:creator>
  <cp:lastModifiedBy>Jessica Chen</cp:lastModifiedBy>
  <cp:revision>9</cp:revision>
  <dcterms:created xsi:type="dcterms:W3CDTF">2025-11-30T18:22:30Z</dcterms:created>
  <dcterms:modified xsi:type="dcterms:W3CDTF">2025-12-04T01:29:28Z</dcterms:modified>
</cp:coreProperties>
</file>